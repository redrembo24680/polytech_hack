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5307539e-9030-fa4a-321a-7230940cf8e0}">
          <p14:sldIdLst>
            <p14:sldId id="256"/>
          </p14:sldIdLst>
        </p14:section>
        <p14:section name="Проблема і рішення" id="{fc9ae86d-7831-2c09-34fc-ccfd079ebfcd}">
          <p14:sldIdLst>
            <p14:sldId id="257"/>
            <p14:sldId id="258"/>
          </p14:sldIdLst>
        </p14:section>
        <p14:section name="Як це працює" id="{72e6e149-02a8-3be5-8fbf-0fe0f63f5197}">
          <p14:sldIdLst>
            <p14:sldId id="259"/>
          </p14:sldIdLst>
        </p14:section>
        <p14:section name="Демо" id="{8ecc4e0d-e615-86fd-bbc0-0ee6573b2299}">
          <p14:sldIdLst>
            <p14:sldId id="260"/>
            <p14:sldId id="261"/>
            <p14:sldId id="262"/>
            <p14:sldId id="263"/>
          </p14:sldIdLst>
        </p14:section>
        <p14:section name="Чому це працює" id="{3b7e7b58-602e-da76-f593-0c84089e4e70}">
          <p14:sldIdLst>
            <p14:sldId id="264"/>
            <p14:sldId id="265"/>
            <p14:sldId id="266"/>
            <p14:sldId id="267"/>
          </p14:sldIdLst>
        </p14:section>
        <p14:section name="Підсумок" id="{e99316f3-dc90-4cb0-6227-39558ef5adf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 зробили не чат-бот, а операційного асистента для підтримки. Клієнт пише як людині — агент сам розбирається, що сталося, і виконує дію в системі бізнесу, а ризикові рішення віддає адміністратору.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Біль реальний: у сервісних бізнесах до чверті записів не доходять, а адміністратор вручну перевіряє правила й переносить записи. Боти тут не допомагають — вони не мають доступу до системи.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Дві частини, з'єднані API та MCP. Платформа — реальний продукт з даними і правилами. Агент працює поверх неї: читає правила саме цього бізнесу і виконує дії через інструменти.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Кожне повідомлення спершу проходить тріаж: що людина хоче, у якому вона стані, чи це терміново. Прості питання дешево закриває Gemma 4. Усе, що змінює дані, йде через агента, а кожна дія перевіряється правилами бізнесу — модель не може обійти permission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Найчастіші звернення — довідкові. Їх закриває легка модель за секунди, не витрачаючи дорогий цикл агента.
Відео: presentation/videos/scene-Q.mp4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Агент не просто співчуває — він бачить, що це лояльна клієнтка, а політика салону дозволяє один виняток на пів року без погодження. Тому сам переносить і зберігає передоплату. В copilot видно кожен виклик інструмента.
Відео: presentation/videos/scene-A.mp4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Однакове звернення — інше рішення, бо інший контекст. Агент чесно пояснює клієнту, що чекає на рішення, а адміністратор отримує готовий розбір і кнопку «схвалити».
Відео: presentation/videos/scene-B.mp4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Той самий агент у іншому бізнесі поводиться обережніше, бо правила інші. Він розбиває задачу на дві дії, кожну погоджує людина, і тримає клієнта в курсі.
Відео: presentation/videos/scene-C.mp4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головна ідея повторного використання: агент не захардкожений під салон. Власник у налаштуваннях вирішує, що AI робить сам, а що лише з погодженням. Тому однакове звернення в салоні й клініці закінчується по-різному.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 агентом — працююча платформа: мульти-тенант, PostgreSQL, Docker, 119 тестів бекенду. Будь-який салон чи клініка реєструється, налаштовує правила — і AI-підтримка працює одразу. Відео: presentation/videos/product-tour.mp4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Цифри з наших демо-сценаріїв: 500 грн Олени і 400 грн Максима збережено, 800 грн Петру повернено. Головне — адміністратор більше не робить рутинних дій руками, а лише погоджує те, що справді потребує людини.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Пройтися по п'яти критеріях з ТЗ і коротко показати, де кожен закритий.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Підсумок: AI тут не інтерфейс спілкування, а учасник операцій. Наступні кроки — інтеграції й прогнозування неявок на даних, які платформа вже збирає.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16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rgbClr val="F1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PolyTech Code Fest · AI Customer Support Automation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0116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AI-підтримка, яка не пояснює, а вирішує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49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Bookly — платформа для бізнесів за записом і AI-агент, що сам переносить, скасовує та повертає гроші за правилами кожного бізнесу</a:t>
            </a:r>
            <a:endParaRPr lang="en-US" sz="2200" dirty="0"/>
          </a:p>
        </p:txBody>
      </p:sp>
      <p:sp>
        <p:nvSpPr>
          <p:cNvPr id="5" name="hero circle"/>
          <p:cNvSpPr/>
          <p:nvPr/>
        </p:nvSpPr>
        <p:spPr>
          <a:xfrm>
            <a:off x="9692640" y="196596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her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4688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Підтримка салонів і клінік тоне в рутині</a:t>
            </a:r>
            <a:endParaRPr lang="en-US" sz="3200" dirty="0"/>
          </a:p>
        </p:txBody>
      </p:sp>
      <p:sp>
        <p:nvSpPr>
          <p:cNvPr id="3" name="pain 1 card"/>
          <p:cNvSpPr/>
          <p:nvPr/>
        </p:nvSpPr>
        <p:spPr>
          <a:xfrm>
            <a:off x="548640" y="1463040"/>
            <a:ext cx="351525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4" name="pain 1 icon bg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" name="p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65376"/>
            <a:ext cx="310896" cy="310896"/>
          </a:xfrm>
          <a:prstGeom prst="rect">
            <a:avLst/>
          </a:prstGeom>
        </p:spPr>
      </p:pic>
      <p:sp>
        <p:nvSpPr>
          <p:cNvPr id="6" name="pain 1 head"/>
          <p:cNvSpPr txBox="1"/>
          <p:nvPr/>
        </p:nvSpPr>
        <p:spPr>
          <a:xfrm>
            <a:off x="822960" y="248716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«Перенесіть», «поверніть»</a:t>
            </a:r>
            <a:endParaRPr lang="en-US" sz="1800" dirty="0"/>
          </a:p>
        </p:txBody>
      </p:sp>
      <p:sp>
        <p:nvSpPr>
          <p:cNvPr id="7" name="pain 1 text"/>
          <p:cNvSpPr txBox="1"/>
          <p:nvPr/>
        </p:nvSpPr>
        <p:spPr>
          <a:xfrm>
            <a:off x="822960" y="3310128"/>
            <a:ext cx="296661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Адміністратор цілий день відповідає в директі й телефоні на однакові запити, які потребують лише кількох дій у системі.</a:t>
            </a:r>
            <a:endParaRPr lang="en-US" sz="1400" dirty="0"/>
          </a:p>
        </p:txBody>
      </p:sp>
      <p:sp>
        <p:nvSpPr>
          <p:cNvPr id="8" name="pain 2 card"/>
          <p:cNvSpPr/>
          <p:nvPr/>
        </p:nvSpPr>
        <p:spPr>
          <a:xfrm>
            <a:off x="4338218" y="1463040"/>
            <a:ext cx="351525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9" name="pain 2 icon bg"/>
          <p:cNvSpPr/>
          <p:nvPr/>
        </p:nvSpPr>
        <p:spPr>
          <a:xfrm>
            <a:off x="4612538" y="173736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0" name="p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554" y="1865376"/>
            <a:ext cx="310896" cy="310896"/>
          </a:xfrm>
          <a:prstGeom prst="rect">
            <a:avLst/>
          </a:prstGeom>
        </p:spPr>
      </p:pic>
      <p:sp>
        <p:nvSpPr>
          <p:cNvPr id="11" name="pain 2 head"/>
          <p:cNvSpPr txBox="1"/>
          <p:nvPr/>
        </p:nvSpPr>
        <p:spPr>
          <a:xfrm>
            <a:off x="4612538" y="248716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Неявки й пізні скасування</a:t>
            </a:r>
            <a:endParaRPr lang="en-US" sz="1800" dirty="0"/>
          </a:p>
        </p:txBody>
      </p:sp>
      <p:sp>
        <p:nvSpPr>
          <p:cNvPr id="12" name="pain 2 text"/>
          <p:cNvSpPr txBox="1"/>
          <p:nvPr/>
        </p:nvSpPr>
        <p:spPr>
          <a:xfrm>
            <a:off x="4612538" y="3310128"/>
            <a:ext cx="296661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15–23% записаних клієнтів у сервісних бізнесах не приходять. Кожне правило (передоплата, штраф, виняток) перевіряють вручну.</a:t>
            </a:r>
            <a:endParaRPr lang="en-US" sz="1400" dirty="0"/>
          </a:p>
        </p:txBody>
      </p:sp>
      <p:sp>
        <p:nvSpPr>
          <p:cNvPr id="13" name="pain 3 card"/>
          <p:cNvSpPr/>
          <p:nvPr/>
        </p:nvSpPr>
        <p:spPr>
          <a:xfrm>
            <a:off x="8127797" y="1463040"/>
            <a:ext cx="3515258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4" name="pain 3 icon bg"/>
          <p:cNvSpPr/>
          <p:nvPr/>
        </p:nvSpPr>
        <p:spPr>
          <a:xfrm>
            <a:off x="8402117" y="173736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5" name="p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133" y="1865376"/>
            <a:ext cx="310896" cy="310896"/>
          </a:xfrm>
          <a:prstGeom prst="rect">
            <a:avLst/>
          </a:prstGeom>
        </p:spPr>
      </p:pic>
      <p:sp>
        <p:nvSpPr>
          <p:cNvPr id="16" name="pain 3 head"/>
          <p:cNvSpPr txBox="1"/>
          <p:nvPr/>
        </p:nvSpPr>
        <p:spPr>
          <a:xfrm>
            <a:off x="8402117" y="248716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Боти лише пояснюють</a:t>
            </a:r>
            <a:endParaRPr lang="en-US" sz="1800" dirty="0"/>
          </a:p>
        </p:txBody>
      </p:sp>
      <p:sp>
        <p:nvSpPr>
          <p:cNvPr id="17" name="pain 3 text"/>
          <p:cNvSpPr txBox="1"/>
          <p:nvPr/>
        </p:nvSpPr>
        <p:spPr>
          <a:xfrm>
            <a:off x="8402117" y="3310128"/>
            <a:ext cx="296661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Звичайний чат-бот розповість про правила скасування, але не перенесе запис і не поверне передоплату.</a:t>
            </a:r>
            <a:endParaRPr lang="en-US" sz="1400" dirty="0"/>
          </a:p>
        </p:txBody>
      </p:sp>
      <p:sp>
        <p:nvSpPr>
          <p:cNvPr id="18" name="key question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Питання не в тому, як швидше відповісти.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Питання в тому, як зробити так, щоб проблема була вирішена.</a:t>
            </a:r>
            <a:endParaRPr lang="en-US" sz="18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Джерело частки неявок: SchedulingKit, Appointment No-Show Statistics 2026 (оцінки вендора).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Наше рішення: агент, який має руки в системі бізнесу</a:t>
            </a:r>
            <a:endParaRPr lang="en-US" sz="3200" dirty="0"/>
          </a:p>
        </p:txBody>
      </p:sp>
      <p:sp>
        <p:nvSpPr>
          <p:cNvPr id="3" name="platform card"/>
          <p:cNvSpPr/>
          <p:nvPr/>
        </p:nvSpPr>
        <p:spPr>
          <a:xfrm>
            <a:off x="548640" y="1463040"/>
            <a:ext cx="5410048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4" name="platform icon bg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" name="platfor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65376"/>
            <a:ext cx="310896" cy="310896"/>
          </a:xfrm>
          <a:prstGeom prst="rect">
            <a:avLst/>
          </a:prstGeom>
        </p:spPr>
      </p:pic>
      <p:sp>
        <p:nvSpPr>
          <p:cNvPr id="6" name="platform head"/>
          <p:cNvSpPr txBox="1"/>
          <p:nvPr/>
        </p:nvSpPr>
        <p:spPr>
          <a:xfrm>
            <a:off x="822960" y="2487168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Bookly — платформа для бізнесів за записом</a:t>
            </a:r>
            <a:endParaRPr lang="en-US" sz="1800" dirty="0"/>
          </a:p>
        </p:txBody>
      </p:sp>
      <p:sp>
        <p:nvSpPr>
          <p:cNvPr id="7" name="platform text"/>
          <p:cNvSpPr txBox="1"/>
          <p:nvPr/>
        </p:nvSpPr>
        <p:spPr>
          <a:xfrm>
            <a:off x="822960" y="3310128"/>
            <a:ext cx="486140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Сторінка бізнесу, онлайн-запис із передоплатою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Адмінка: бронювання, клієнти, майстри, послуги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Правила кожного бізнесу: вікно скасування, штраф, передоплата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Чат підтримки на сайті та віджет для будь-якого сайту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Один салон чи клініка підключається без коду</a:t>
            </a:r>
            <a:endParaRPr lang="en-US" sz="1500" dirty="0"/>
          </a:p>
        </p:txBody>
      </p:sp>
      <p:sp>
        <p:nvSpPr>
          <p:cNvPr id="8" name="agent card"/>
          <p:cNvSpPr/>
          <p:nvPr/>
        </p:nvSpPr>
        <p:spPr>
          <a:xfrm>
            <a:off x="6233008" y="1463040"/>
            <a:ext cx="5410048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9" name="agent icon bg"/>
          <p:cNvSpPr/>
          <p:nvPr/>
        </p:nvSpPr>
        <p:spPr>
          <a:xfrm>
            <a:off x="6507328" y="173736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0" name="agen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1865376"/>
            <a:ext cx="310896" cy="310896"/>
          </a:xfrm>
          <a:prstGeom prst="rect">
            <a:avLst/>
          </a:prstGeom>
        </p:spPr>
      </p:pic>
      <p:sp>
        <p:nvSpPr>
          <p:cNvPr id="11" name="agent head"/>
          <p:cNvSpPr txBox="1"/>
          <p:nvPr/>
        </p:nvSpPr>
        <p:spPr>
          <a:xfrm>
            <a:off x="6507328" y="2487168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AI-агент підтримки</a:t>
            </a:r>
            <a:endParaRPr lang="en-US" sz="1800" dirty="0"/>
          </a:p>
        </p:txBody>
      </p:sp>
      <p:sp>
        <p:nvSpPr>
          <p:cNvPr id="12" name="agent text"/>
          <p:cNvSpPr txBox="1"/>
          <p:nvPr/>
        </p:nvSpPr>
        <p:spPr>
          <a:xfrm>
            <a:off x="6507328" y="3310128"/>
            <a:ext cx="486140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Розуміє намір, емоцію і терміновість звернення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Діє через інструменти: переносить, скасовує, повертає, знімає штраф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Permission engine: сам / з погодженням / заборонено — налаштовує власник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Copilot: адміністратор бачить хід думок, дії й погоджує ризикові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Канали: чат на сайті, віджет, телефон (Vapi)</a:t>
            </a:r>
            <a:endParaRPr lang="en-US" sz="1500" dirty="0"/>
          </a:p>
        </p:txBody>
      </p:sp>
      <p:sp>
        <p:nvSpPr>
          <p:cNvPr id="13" name="link line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Дві частини з'єднані HTTP API та MCP: агент бачить і змінює ті самі дані, що й адміністратор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Як агент приймає рішення</a:t>
            </a:r>
            <a:endParaRPr lang="en-US" sz="3200" dirty="0"/>
          </a:p>
        </p:txBody>
      </p:sp>
      <p:sp>
        <p:nvSpPr>
          <p:cNvPr id="3" name="flow 1 card"/>
          <p:cNvSpPr/>
          <p:nvPr/>
        </p:nvSpPr>
        <p:spPr>
          <a:xfrm>
            <a:off x="548640" y="155448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4" name="flow 1 icon bg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" name="flow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310896" cy="310896"/>
          </a:xfrm>
          <a:prstGeom prst="rect">
            <a:avLst/>
          </a:prstGeom>
        </p:spPr>
      </p:pic>
      <p:sp>
        <p:nvSpPr>
          <p:cNvPr id="6" name="flow 1 head"/>
          <p:cNvSpPr txBox="1"/>
          <p:nvPr/>
        </p:nvSpPr>
        <p:spPr>
          <a:xfrm>
            <a:off x="822960" y="25786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Клієнт пише</a:t>
            </a:r>
            <a:endParaRPr lang="en-US" sz="1400" dirty="0"/>
          </a:p>
        </p:txBody>
      </p:sp>
      <p:sp>
        <p:nvSpPr>
          <p:cNvPr id="7" name="flow 1 text"/>
          <p:cNvSpPr txBox="1"/>
          <p:nvPr/>
        </p:nvSpPr>
        <p:spPr>
          <a:xfrm>
            <a:off x="822960" y="326440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Чат на сайті, віджет або дзвінок</a:t>
            </a:r>
            <a:endParaRPr lang="en-US" sz="1300" dirty="0"/>
          </a:p>
        </p:txBody>
      </p:sp>
      <p:sp>
        <p:nvSpPr>
          <p:cNvPr id="8" name="flow arrow 1"/>
          <p:cNvSpPr txBox="1"/>
          <p:nvPr/>
        </p:nvSpPr>
        <p:spPr>
          <a:xfrm>
            <a:off x="2514600" y="2651760"/>
            <a:ext cx="316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flow 2 card"/>
          <p:cNvSpPr/>
          <p:nvPr/>
        </p:nvSpPr>
        <p:spPr>
          <a:xfrm>
            <a:off x="2830754" y="155448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0" name="flow 2 icon bg"/>
          <p:cNvSpPr/>
          <p:nvPr/>
        </p:nvSpPr>
        <p:spPr>
          <a:xfrm>
            <a:off x="3105074" y="182880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1" name="flow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090" y="1956816"/>
            <a:ext cx="310896" cy="310896"/>
          </a:xfrm>
          <a:prstGeom prst="rect">
            <a:avLst/>
          </a:prstGeom>
        </p:spPr>
      </p:pic>
      <p:sp>
        <p:nvSpPr>
          <p:cNvPr id="12" name="flow 2 head"/>
          <p:cNvSpPr txBox="1"/>
          <p:nvPr/>
        </p:nvSpPr>
        <p:spPr>
          <a:xfrm>
            <a:off x="3105074" y="25786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Оркестратор</a:t>
            </a:r>
            <a:endParaRPr lang="en-US" sz="1400" dirty="0"/>
          </a:p>
        </p:txBody>
      </p:sp>
      <p:sp>
        <p:nvSpPr>
          <p:cNvPr id="13" name="flow 2 text"/>
          <p:cNvSpPr txBox="1"/>
          <p:nvPr/>
        </p:nvSpPr>
        <p:spPr>
          <a:xfrm>
            <a:off x="3105074" y="326440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Claude Sonnet: намір, емоція, терміновість, маршрут</a:t>
            </a:r>
            <a:endParaRPr lang="en-US" sz="1300" dirty="0"/>
          </a:p>
        </p:txBody>
      </p:sp>
      <p:sp>
        <p:nvSpPr>
          <p:cNvPr id="14" name="flow arrow 2"/>
          <p:cNvSpPr txBox="1"/>
          <p:nvPr/>
        </p:nvSpPr>
        <p:spPr>
          <a:xfrm>
            <a:off x="4796714" y="2651760"/>
            <a:ext cx="316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flow 3 card"/>
          <p:cNvSpPr/>
          <p:nvPr/>
        </p:nvSpPr>
        <p:spPr>
          <a:xfrm>
            <a:off x="5112868" y="155448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6" name="flow 3 icon bg"/>
          <p:cNvSpPr/>
          <p:nvPr/>
        </p:nvSpPr>
        <p:spPr>
          <a:xfrm>
            <a:off x="5387188" y="182880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7" name="flow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4" y="1956816"/>
            <a:ext cx="310896" cy="310896"/>
          </a:xfrm>
          <a:prstGeom prst="rect">
            <a:avLst/>
          </a:prstGeom>
        </p:spPr>
      </p:pic>
      <p:sp>
        <p:nvSpPr>
          <p:cNvPr id="18" name="flow 3 head"/>
          <p:cNvSpPr txBox="1"/>
          <p:nvPr/>
        </p:nvSpPr>
        <p:spPr>
          <a:xfrm>
            <a:off x="5387188" y="25786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Агент-виконавець</a:t>
            </a:r>
            <a:endParaRPr lang="en-US" sz="1400" dirty="0"/>
          </a:p>
        </p:txBody>
      </p:sp>
      <p:sp>
        <p:nvSpPr>
          <p:cNvPr id="19" name="flow 3 text"/>
          <p:cNvSpPr txBox="1"/>
          <p:nvPr/>
        </p:nvSpPr>
        <p:spPr>
          <a:xfrm>
            <a:off x="5387188" y="326440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Читає профіль і правила, викликає інструменти</a:t>
            </a:r>
            <a:endParaRPr lang="en-US" sz="1300" dirty="0"/>
          </a:p>
        </p:txBody>
      </p:sp>
      <p:sp>
        <p:nvSpPr>
          <p:cNvPr id="20" name="flow arrow 3"/>
          <p:cNvSpPr txBox="1"/>
          <p:nvPr/>
        </p:nvSpPr>
        <p:spPr>
          <a:xfrm>
            <a:off x="7078828" y="2651760"/>
            <a:ext cx="316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flow 4 card"/>
          <p:cNvSpPr/>
          <p:nvPr/>
        </p:nvSpPr>
        <p:spPr>
          <a:xfrm>
            <a:off x="7394981" y="155448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22" name="flow 4 icon bg"/>
          <p:cNvSpPr/>
          <p:nvPr/>
        </p:nvSpPr>
        <p:spPr>
          <a:xfrm>
            <a:off x="7669301" y="182880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3" name="flow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317" y="1956816"/>
            <a:ext cx="310896" cy="310896"/>
          </a:xfrm>
          <a:prstGeom prst="rect">
            <a:avLst/>
          </a:prstGeom>
        </p:spPr>
      </p:pic>
      <p:sp>
        <p:nvSpPr>
          <p:cNvPr id="24" name="flow 4 head"/>
          <p:cNvSpPr txBox="1"/>
          <p:nvPr/>
        </p:nvSpPr>
        <p:spPr>
          <a:xfrm>
            <a:off x="7669301" y="25786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Permission engine</a:t>
            </a:r>
            <a:endParaRPr lang="en-US" sz="1400" dirty="0"/>
          </a:p>
        </p:txBody>
      </p:sp>
      <p:sp>
        <p:nvSpPr>
          <p:cNvPr id="25" name="flow 4 text"/>
          <p:cNvSpPr txBox="1"/>
          <p:nvPr/>
        </p:nvSpPr>
        <p:spPr>
          <a:xfrm>
            <a:off x="7669301" y="326440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Сам · з погодженням · заборонено</a:t>
            </a:r>
            <a:endParaRPr lang="en-US" sz="1300" dirty="0"/>
          </a:p>
        </p:txBody>
      </p:sp>
      <p:sp>
        <p:nvSpPr>
          <p:cNvPr id="26" name="flow arrow 4"/>
          <p:cNvSpPr txBox="1"/>
          <p:nvPr/>
        </p:nvSpPr>
        <p:spPr>
          <a:xfrm>
            <a:off x="9360941" y="2651760"/>
            <a:ext cx="316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flow 5 card"/>
          <p:cNvSpPr/>
          <p:nvPr/>
        </p:nvSpPr>
        <p:spPr>
          <a:xfrm>
            <a:off x="9677095" y="155448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28" name="flow 5 icon bg"/>
          <p:cNvSpPr/>
          <p:nvPr/>
        </p:nvSpPr>
        <p:spPr>
          <a:xfrm>
            <a:off x="9951415" y="182880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9" name="flow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9431" y="1956816"/>
            <a:ext cx="310896" cy="310896"/>
          </a:xfrm>
          <a:prstGeom prst="rect">
            <a:avLst/>
          </a:prstGeom>
        </p:spPr>
      </p:pic>
      <p:sp>
        <p:nvSpPr>
          <p:cNvPr id="30" name="flow 5 head"/>
          <p:cNvSpPr txBox="1"/>
          <p:nvPr/>
        </p:nvSpPr>
        <p:spPr>
          <a:xfrm>
            <a:off x="9951415" y="25786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Платформа</a:t>
            </a:r>
            <a:endParaRPr lang="en-US" sz="1400" dirty="0"/>
          </a:p>
        </p:txBody>
      </p:sp>
      <p:sp>
        <p:nvSpPr>
          <p:cNvPr id="31" name="flow 5 text"/>
          <p:cNvSpPr txBox="1"/>
          <p:nvPr/>
        </p:nvSpPr>
        <p:spPr>
          <a:xfrm>
            <a:off x="9951415" y="326440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API / MCP: зміни в реальних даних</a:t>
            </a:r>
            <a:endParaRPr lang="en-US" sz="1300" dirty="0"/>
          </a:p>
        </p:txBody>
      </p:sp>
      <p:sp>
        <p:nvSpPr>
          <p:cNvPr id="32" name="routing box"/>
          <p:cNvSpPr/>
          <p:nvPr/>
        </p:nvSpPr>
        <p:spPr>
          <a:xfrm>
            <a:off x="548640" y="457200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3" name="routing text"/>
          <p:cNvSpPr txBox="1"/>
          <p:nvPr/>
        </p:nvSpPr>
        <p:spPr>
          <a:xfrm>
            <a:off x="822960" y="4572000"/>
            <a:ext cx="105457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Просте питання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(ціна, адреса) → відповідає Gemma 4, без дій.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Дія із записом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завжди через агента й permission engine. 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Гнів чи терміновість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 ескалація людині.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Демо 1. Просте питання — миттєва відповідь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Клієнт питає ціну й адресу. Оркестратор бачить просте питання, відповідає Gemma 4 без жодних дій.</a:t>
            </a:r>
            <a:endParaRPr lang="en-US" sz="1600" dirty="0"/>
          </a:p>
        </p:txBody>
      </p:sp>
      <p:pic>
        <p:nvPicPr>
          <p:cNvPr id="4" name="video scene-Q.mp4" descr="Кадр з відео scene-Q.mp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3467005"/>
          </a:xfrm>
          <a:prstGeom prst="rect">
            <a:avLst/>
          </a:prstGeom>
        </p:spPr>
      </p:pic>
      <p:sp>
        <p:nvSpPr>
          <p:cNvPr id="5" name="insert video badge"/>
          <p:cNvSpPr/>
          <p:nvPr/>
        </p:nvSpPr>
        <p:spPr>
          <a:xfrm>
            <a:off x="4632808" y="3196542"/>
            <a:ext cx="2926080" cy="54864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6" name="insert video label"/>
          <p:cNvSpPr txBox="1"/>
          <p:nvPr/>
        </p:nvSpPr>
        <p:spPr>
          <a:xfrm>
            <a:off x="4632808" y="319654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▶  вставити scene-Q.mp4</a:t>
            </a:r>
            <a:endParaRPr lang="en-US" sz="1400" dirty="0"/>
          </a:p>
        </p:txBody>
      </p:sp>
      <p:sp>
        <p:nvSpPr>
          <p:cNvPr id="7" name="video label 0"/>
          <p:cNvSpPr txBox="1"/>
          <p:nvPr/>
        </p:nvSpPr>
        <p:spPr>
          <a:xfrm>
            <a:off x="548640" y="1444752"/>
            <a:ext cx="554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Клієнт на сайті Bookly</a:t>
            </a:r>
            <a:endParaRPr lang="en-US" sz="1200" dirty="0"/>
          </a:p>
        </p:txBody>
      </p:sp>
      <p:sp>
        <p:nvSpPr>
          <p:cNvPr id="8" name="video label 1"/>
          <p:cNvSpPr txBox="1"/>
          <p:nvPr/>
        </p:nvSpPr>
        <p:spPr>
          <a:xfrm>
            <a:off x="6095848" y="1444752"/>
            <a:ext cx="554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Чат і copilot адміністратора</a:t>
            </a:r>
            <a:endParaRPr lang="en-US" sz="1200" dirty="0"/>
          </a:p>
        </p:txBody>
      </p:sp>
      <p:sp>
        <p:nvSpPr>
          <p:cNvPr id="9" name="step 1"/>
          <p:cNvSpPr/>
          <p:nvPr/>
        </p:nvSpPr>
        <p:spPr>
          <a:xfrm>
            <a:off x="548640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0" name="step 1 dot"/>
          <p:cNvSpPr/>
          <p:nvPr/>
        </p:nvSpPr>
        <p:spPr>
          <a:xfrm>
            <a:off x="749808" y="5504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1 number"/>
          <p:cNvSpPr txBox="1"/>
          <p:nvPr/>
        </p:nvSpPr>
        <p:spPr>
          <a:xfrm>
            <a:off x="749808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tep 1 head"/>
          <p:cNvSpPr txBox="1"/>
          <p:nvPr/>
        </p:nvSpPr>
        <p:spPr>
          <a:xfrm>
            <a:off x="1234440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Тріаж</a:t>
            </a:r>
            <a:endParaRPr lang="en-US" sz="1500" dirty="0"/>
          </a:p>
        </p:txBody>
      </p:sp>
      <p:sp>
        <p:nvSpPr>
          <p:cNvPr id="13" name="step 1 text"/>
          <p:cNvSpPr txBox="1"/>
          <p:nvPr/>
        </p:nvSpPr>
        <p:spPr>
          <a:xfrm>
            <a:off x="1234440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Намір «питання», терміновість низька</a:t>
            </a:r>
            <a:endParaRPr lang="en-US" sz="1200" dirty="0"/>
          </a:p>
        </p:txBody>
      </p:sp>
      <p:sp>
        <p:nvSpPr>
          <p:cNvPr id="14" name="step 2"/>
          <p:cNvSpPr/>
          <p:nvPr/>
        </p:nvSpPr>
        <p:spPr>
          <a:xfrm>
            <a:off x="4338218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5" name="step 2 dot"/>
          <p:cNvSpPr/>
          <p:nvPr/>
        </p:nvSpPr>
        <p:spPr>
          <a:xfrm>
            <a:off x="4539386" y="5504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2 number"/>
          <p:cNvSpPr txBox="1"/>
          <p:nvPr/>
        </p:nvSpPr>
        <p:spPr>
          <a:xfrm>
            <a:off x="4539386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tep 2 head"/>
          <p:cNvSpPr txBox="1"/>
          <p:nvPr/>
        </p:nvSpPr>
        <p:spPr>
          <a:xfrm>
            <a:off x="5024018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Gemma 4</a:t>
            </a:r>
            <a:endParaRPr lang="en-US" sz="1500" dirty="0"/>
          </a:p>
        </p:txBody>
      </p:sp>
      <p:sp>
        <p:nvSpPr>
          <p:cNvPr id="18" name="step 2 text"/>
          <p:cNvSpPr txBox="1"/>
          <p:nvPr/>
        </p:nvSpPr>
        <p:spPr>
          <a:xfrm>
            <a:off x="5024018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Відповідь з фактів бізнесу: послуги, ціни, контакти</a:t>
            </a:r>
            <a:endParaRPr lang="en-US" sz="1200" dirty="0"/>
          </a:p>
        </p:txBody>
      </p:sp>
      <p:sp>
        <p:nvSpPr>
          <p:cNvPr id="19" name="step 3"/>
          <p:cNvSpPr/>
          <p:nvPr/>
        </p:nvSpPr>
        <p:spPr>
          <a:xfrm>
            <a:off x="8127797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20" name="step 3 dot"/>
          <p:cNvSpPr/>
          <p:nvPr/>
        </p:nvSpPr>
        <p:spPr>
          <a:xfrm>
            <a:off x="8328965" y="5504688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1" name="step 3 number"/>
          <p:cNvSpPr txBox="1"/>
          <p:nvPr/>
        </p:nvSpPr>
        <p:spPr>
          <a:xfrm>
            <a:off x="8328965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tep 3 head"/>
          <p:cNvSpPr txBox="1"/>
          <p:nvPr/>
        </p:nvSpPr>
        <p:spPr>
          <a:xfrm>
            <a:off x="8813597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Нуль ризику</a:t>
            </a:r>
            <a:endParaRPr lang="en-US" sz="1500" dirty="0"/>
          </a:p>
        </p:txBody>
      </p:sp>
      <p:sp>
        <p:nvSpPr>
          <p:cNvPr id="23" name="step 3 text"/>
          <p:cNvSpPr txBox="1"/>
          <p:nvPr/>
        </p:nvSpPr>
        <p:spPr>
          <a:xfrm>
            <a:off x="8813597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Дані не змінюються, адміністратор не потрібен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Демо 2. Олена: агент сам рятує передоплату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«Дитина захворіла, не встигаю завтра на 10». Пізнє перенесення — за правилами передоплата згорає.</a:t>
            </a:r>
            <a:endParaRPr lang="en-US" sz="1600" dirty="0"/>
          </a:p>
        </p:txBody>
      </p:sp>
      <p:pic>
        <p:nvPicPr>
          <p:cNvPr id="4" name="video scene-A.mp4" descr="Кадр з відео scene-A.mp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3467005"/>
          </a:xfrm>
          <a:prstGeom prst="rect">
            <a:avLst/>
          </a:prstGeom>
        </p:spPr>
      </p:pic>
      <p:sp>
        <p:nvSpPr>
          <p:cNvPr id="5" name="insert video badge"/>
          <p:cNvSpPr/>
          <p:nvPr/>
        </p:nvSpPr>
        <p:spPr>
          <a:xfrm>
            <a:off x="4632808" y="3196542"/>
            <a:ext cx="2926080" cy="54864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6" name="insert video label"/>
          <p:cNvSpPr txBox="1"/>
          <p:nvPr/>
        </p:nvSpPr>
        <p:spPr>
          <a:xfrm>
            <a:off x="4632808" y="319654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▶  вставити scene-A.mp4</a:t>
            </a:r>
            <a:endParaRPr lang="en-US" sz="1400" dirty="0"/>
          </a:p>
        </p:txBody>
      </p:sp>
      <p:sp>
        <p:nvSpPr>
          <p:cNvPr id="7" name="video label 0"/>
          <p:cNvSpPr txBox="1"/>
          <p:nvPr/>
        </p:nvSpPr>
        <p:spPr>
          <a:xfrm>
            <a:off x="548640" y="1444752"/>
            <a:ext cx="554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Клієнт на сайті Bookly</a:t>
            </a:r>
            <a:endParaRPr lang="en-US" sz="1200" dirty="0"/>
          </a:p>
        </p:txBody>
      </p:sp>
      <p:sp>
        <p:nvSpPr>
          <p:cNvPr id="8" name="video label 1"/>
          <p:cNvSpPr txBox="1"/>
          <p:nvPr/>
        </p:nvSpPr>
        <p:spPr>
          <a:xfrm>
            <a:off x="6095848" y="1444752"/>
            <a:ext cx="554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Чат і copilot адміністратора</a:t>
            </a:r>
            <a:endParaRPr lang="en-US" sz="1200" dirty="0"/>
          </a:p>
        </p:txBody>
      </p:sp>
      <p:sp>
        <p:nvSpPr>
          <p:cNvPr id="9" name="step 1"/>
          <p:cNvSpPr/>
          <p:nvPr/>
        </p:nvSpPr>
        <p:spPr>
          <a:xfrm>
            <a:off x="548640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0" name="step 1 dot"/>
          <p:cNvSpPr/>
          <p:nvPr/>
        </p:nvSpPr>
        <p:spPr>
          <a:xfrm>
            <a:off x="749808" y="5504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1 number"/>
          <p:cNvSpPr txBox="1"/>
          <p:nvPr/>
        </p:nvSpPr>
        <p:spPr>
          <a:xfrm>
            <a:off x="749808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tep 1 head"/>
          <p:cNvSpPr txBox="1"/>
          <p:nvPr/>
        </p:nvSpPr>
        <p:spPr>
          <a:xfrm>
            <a:off x="1234440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Контекст</a:t>
            </a:r>
            <a:endParaRPr lang="en-US" sz="1500" dirty="0"/>
          </a:p>
        </p:txBody>
      </p:sp>
      <p:sp>
        <p:nvSpPr>
          <p:cNvPr id="13" name="step 1 text"/>
          <p:cNvSpPr txBox="1"/>
          <p:nvPr/>
        </p:nvSpPr>
        <p:spPr>
          <a:xfrm>
            <a:off x="1234440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 візитів, 0 неявок, винятків ще не було</a:t>
            </a:r>
            <a:endParaRPr lang="en-US" sz="1200" dirty="0"/>
          </a:p>
        </p:txBody>
      </p:sp>
      <p:sp>
        <p:nvSpPr>
          <p:cNvPr id="14" name="step 2"/>
          <p:cNvSpPr/>
          <p:nvPr/>
        </p:nvSpPr>
        <p:spPr>
          <a:xfrm>
            <a:off x="4338218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5" name="step 2 dot"/>
          <p:cNvSpPr/>
          <p:nvPr/>
        </p:nvSpPr>
        <p:spPr>
          <a:xfrm>
            <a:off x="4539386" y="5504688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6" name="step 2 number"/>
          <p:cNvSpPr txBox="1"/>
          <p:nvPr/>
        </p:nvSpPr>
        <p:spPr>
          <a:xfrm>
            <a:off x="4539386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tep 2 head"/>
          <p:cNvSpPr txBox="1"/>
          <p:nvPr/>
        </p:nvSpPr>
        <p:spPr>
          <a:xfrm>
            <a:off x="5024018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Рішення сам</a:t>
            </a:r>
            <a:endParaRPr lang="en-US" sz="1500" dirty="0"/>
          </a:p>
        </p:txBody>
      </p:sp>
      <p:sp>
        <p:nvSpPr>
          <p:cNvPr id="18" name="step 2 text"/>
          <p:cNvSpPr txBox="1"/>
          <p:nvPr/>
        </p:nvSpPr>
        <p:spPr>
          <a:xfrm>
            <a:off x="5024018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Правило салону дозволяє виняток автоматично</a:t>
            </a:r>
            <a:endParaRPr lang="en-US" sz="1200" dirty="0"/>
          </a:p>
        </p:txBody>
      </p:sp>
      <p:sp>
        <p:nvSpPr>
          <p:cNvPr id="19" name="step 3"/>
          <p:cNvSpPr/>
          <p:nvPr/>
        </p:nvSpPr>
        <p:spPr>
          <a:xfrm>
            <a:off x="8127797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20" name="step 3 dot"/>
          <p:cNvSpPr/>
          <p:nvPr/>
        </p:nvSpPr>
        <p:spPr>
          <a:xfrm>
            <a:off x="8328965" y="5504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 3 number"/>
          <p:cNvSpPr txBox="1"/>
          <p:nvPr/>
        </p:nvSpPr>
        <p:spPr>
          <a:xfrm>
            <a:off x="8328965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tep 3 head"/>
          <p:cNvSpPr txBox="1"/>
          <p:nvPr/>
        </p:nvSpPr>
        <p:spPr>
          <a:xfrm>
            <a:off x="8813597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Дія</a:t>
            </a:r>
            <a:endParaRPr lang="en-US" sz="1500" dirty="0"/>
          </a:p>
        </p:txBody>
      </p:sp>
      <p:sp>
        <p:nvSpPr>
          <p:cNvPr id="23" name="step 3 text"/>
          <p:cNvSpPr txBox="1"/>
          <p:nvPr/>
        </p:nvSpPr>
        <p:spPr>
          <a:xfrm>
            <a:off x="8813597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Знаходить слоти, переносить, 500 грн збережено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Демо 3. Максим: ризикове рішення — людині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Той самий запит, але в клієнта 2 неявки. Агент не вирішує сам, а просить адміністратора.</a:t>
            </a:r>
            <a:endParaRPr lang="en-US" sz="1600" dirty="0"/>
          </a:p>
        </p:txBody>
      </p:sp>
      <p:pic>
        <p:nvPicPr>
          <p:cNvPr id="4" name="video scene-B.mp4" descr="Кадр з відео scene-B.mp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3467005"/>
          </a:xfrm>
          <a:prstGeom prst="rect">
            <a:avLst/>
          </a:prstGeom>
        </p:spPr>
      </p:pic>
      <p:sp>
        <p:nvSpPr>
          <p:cNvPr id="5" name="insert video badge"/>
          <p:cNvSpPr/>
          <p:nvPr/>
        </p:nvSpPr>
        <p:spPr>
          <a:xfrm>
            <a:off x="4632808" y="3196542"/>
            <a:ext cx="2926080" cy="54864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6" name="insert video label"/>
          <p:cNvSpPr txBox="1"/>
          <p:nvPr/>
        </p:nvSpPr>
        <p:spPr>
          <a:xfrm>
            <a:off x="4632808" y="319654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▶  вставити scene-B.mp4</a:t>
            </a:r>
            <a:endParaRPr lang="en-US" sz="1400" dirty="0"/>
          </a:p>
        </p:txBody>
      </p:sp>
      <p:sp>
        <p:nvSpPr>
          <p:cNvPr id="7" name="video label 0"/>
          <p:cNvSpPr txBox="1"/>
          <p:nvPr/>
        </p:nvSpPr>
        <p:spPr>
          <a:xfrm>
            <a:off x="548640" y="1444752"/>
            <a:ext cx="554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Клієнт на сайті Bookly</a:t>
            </a:r>
            <a:endParaRPr lang="en-US" sz="1200" dirty="0"/>
          </a:p>
        </p:txBody>
      </p:sp>
      <p:sp>
        <p:nvSpPr>
          <p:cNvPr id="8" name="video label 1"/>
          <p:cNvSpPr txBox="1"/>
          <p:nvPr/>
        </p:nvSpPr>
        <p:spPr>
          <a:xfrm>
            <a:off x="6095848" y="1444752"/>
            <a:ext cx="554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Чат і copilot адміністратора</a:t>
            </a:r>
            <a:endParaRPr lang="en-US" sz="1200" dirty="0"/>
          </a:p>
        </p:txBody>
      </p:sp>
      <p:sp>
        <p:nvSpPr>
          <p:cNvPr id="9" name="step 1"/>
          <p:cNvSpPr/>
          <p:nvPr/>
        </p:nvSpPr>
        <p:spPr>
          <a:xfrm>
            <a:off x="548640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0" name="step 1 dot"/>
          <p:cNvSpPr/>
          <p:nvPr/>
        </p:nvSpPr>
        <p:spPr>
          <a:xfrm>
            <a:off x="749808" y="5504688"/>
            <a:ext cx="365760" cy="365760"/>
          </a:xfrm>
          <a:prstGeom prst="ellipse">
            <a:avLst/>
          </a:prstGeom>
          <a:solidFill>
            <a:srgbClr val="F59F00"/>
          </a:solidFill>
          <a:ln/>
        </p:spPr>
      </p:sp>
      <p:sp>
        <p:nvSpPr>
          <p:cNvPr id="11" name="step 1 number"/>
          <p:cNvSpPr txBox="1"/>
          <p:nvPr/>
        </p:nvSpPr>
        <p:spPr>
          <a:xfrm>
            <a:off x="749808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tep 1 head"/>
          <p:cNvSpPr txBox="1"/>
          <p:nvPr/>
        </p:nvSpPr>
        <p:spPr>
          <a:xfrm>
            <a:off x="1234440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Контекст</a:t>
            </a:r>
            <a:endParaRPr lang="en-US" sz="1500" dirty="0"/>
          </a:p>
        </p:txBody>
      </p:sp>
      <p:sp>
        <p:nvSpPr>
          <p:cNvPr id="13" name="step 1 text"/>
          <p:cNvSpPr txBox="1"/>
          <p:nvPr/>
        </p:nvSpPr>
        <p:spPr>
          <a:xfrm>
            <a:off x="1234440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 неявки — автоматичний виняток не дозволено</a:t>
            </a:r>
            <a:endParaRPr lang="en-US" sz="1200" dirty="0"/>
          </a:p>
        </p:txBody>
      </p:sp>
      <p:sp>
        <p:nvSpPr>
          <p:cNvPr id="14" name="step 2"/>
          <p:cNvSpPr/>
          <p:nvPr/>
        </p:nvSpPr>
        <p:spPr>
          <a:xfrm>
            <a:off x="4338218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5" name="step 2 dot"/>
          <p:cNvSpPr/>
          <p:nvPr/>
        </p:nvSpPr>
        <p:spPr>
          <a:xfrm>
            <a:off x="4539386" y="5504688"/>
            <a:ext cx="365760" cy="365760"/>
          </a:xfrm>
          <a:prstGeom prst="ellipse">
            <a:avLst/>
          </a:prstGeom>
          <a:solidFill>
            <a:srgbClr val="F59F00"/>
          </a:solidFill>
          <a:ln/>
        </p:spPr>
      </p:sp>
      <p:sp>
        <p:nvSpPr>
          <p:cNvPr id="16" name="step 2 number"/>
          <p:cNvSpPr txBox="1"/>
          <p:nvPr/>
        </p:nvSpPr>
        <p:spPr>
          <a:xfrm>
            <a:off x="4539386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tep 2 head"/>
          <p:cNvSpPr txBox="1"/>
          <p:nvPr/>
        </p:nvSpPr>
        <p:spPr>
          <a:xfrm>
            <a:off x="5024018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Погодження</a:t>
            </a:r>
            <a:endParaRPr lang="en-US" sz="1500" dirty="0"/>
          </a:p>
        </p:txBody>
      </p:sp>
      <p:sp>
        <p:nvSpPr>
          <p:cNvPr id="18" name="step 2 text"/>
          <p:cNvSpPr txBox="1"/>
          <p:nvPr/>
        </p:nvSpPr>
        <p:spPr>
          <a:xfrm>
            <a:off x="5024018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Адміністратор схвалює в copilot одним кліком</a:t>
            </a:r>
            <a:endParaRPr lang="en-US" sz="1200" dirty="0"/>
          </a:p>
        </p:txBody>
      </p:sp>
      <p:sp>
        <p:nvSpPr>
          <p:cNvPr id="19" name="step 3"/>
          <p:cNvSpPr/>
          <p:nvPr/>
        </p:nvSpPr>
        <p:spPr>
          <a:xfrm>
            <a:off x="8127797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20" name="step 3 dot"/>
          <p:cNvSpPr/>
          <p:nvPr/>
        </p:nvSpPr>
        <p:spPr>
          <a:xfrm>
            <a:off x="8328965" y="5504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 3 number"/>
          <p:cNvSpPr txBox="1"/>
          <p:nvPr/>
        </p:nvSpPr>
        <p:spPr>
          <a:xfrm>
            <a:off x="8328965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tep 3 head"/>
          <p:cNvSpPr txBox="1"/>
          <p:nvPr/>
        </p:nvSpPr>
        <p:spPr>
          <a:xfrm>
            <a:off x="8813597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Дія</a:t>
            </a:r>
            <a:endParaRPr lang="en-US" sz="1500" dirty="0"/>
          </a:p>
        </p:txBody>
      </p:sp>
      <p:sp>
        <p:nvSpPr>
          <p:cNvPr id="23" name="step 3 text"/>
          <p:cNvSpPr txBox="1"/>
          <p:nvPr/>
        </p:nvSpPr>
        <p:spPr>
          <a:xfrm>
            <a:off x="8813597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Агент сам повертається до клієнта й переносить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Демо 4. Петро в клініці: суворі правила, дві дії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«Хочу скасувати запис і повернути гроші». У клініці правила суворіші: усе через погодження.</a:t>
            </a:r>
            <a:endParaRPr lang="en-US" sz="1600" dirty="0"/>
          </a:p>
        </p:txBody>
      </p:sp>
      <p:pic>
        <p:nvPicPr>
          <p:cNvPr id="4" name="video scene-C.mp4" descr="Кадр з відео scene-C.mp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3467005"/>
          </a:xfrm>
          <a:prstGeom prst="rect">
            <a:avLst/>
          </a:prstGeom>
        </p:spPr>
      </p:pic>
      <p:sp>
        <p:nvSpPr>
          <p:cNvPr id="5" name="insert video badge"/>
          <p:cNvSpPr/>
          <p:nvPr/>
        </p:nvSpPr>
        <p:spPr>
          <a:xfrm>
            <a:off x="4632808" y="3196542"/>
            <a:ext cx="2926080" cy="54864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6" name="insert video label"/>
          <p:cNvSpPr txBox="1"/>
          <p:nvPr/>
        </p:nvSpPr>
        <p:spPr>
          <a:xfrm>
            <a:off x="4632808" y="319654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▶  вставити scene-C.mp4</a:t>
            </a:r>
            <a:endParaRPr lang="en-US" sz="1400" dirty="0"/>
          </a:p>
        </p:txBody>
      </p:sp>
      <p:sp>
        <p:nvSpPr>
          <p:cNvPr id="7" name="video label 0"/>
          <p:cNvSpPr txBox="1"/>
          <p:nvPr/>
        </p:nvSpPr>
        <p:spPr>
          <a:xfrm>
            <a:off x="548640" y="1444752"/>
            <a:ext cx="554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Клієнт на сайті Bookly</a:t>
            </a:r>
            <a:endParaRPr lang="en-US" sz="1200" dirty="0"/>
          </a:p>
        </p:txBody>
      </p:sp>
      <p:sp>
        <p:nvSpPr>
          <p:cNvPr id="8" name="video label 1"/>
          <p:cNvSpPr txBox="1"/>
          <p:nvPr/>
        </p:nvSpPr>
        <p:spPr>
          <a:xfrm>
            <a:off x="6095848" y="1444752"/>
            <a:ext cx="554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Чат і copilot адміністратора</a:t>
            </a:r>
            <a:endParaRPr lang="en-US" sz="1200" dirty="0"/>
          </a:p>
        </p:txBody>
      </p:sp>
      <p:sp>
        <p:nvSpPr>
          <p:cNvPr id="9" name="step 1"/>
          <p:cNvSpPr/>
          <p:nvPr/>
        </p:nvSpPr>
        <p:spPr>
          <a:xfrm>
            <a:off x="548640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0" name="step 1 dot"/>
          <p:cNvSpPr/>
          <p:nvPr/>
        </p:nvSpPr>
        <p:spPr>
          <a:xfrm>
            <a:off x="749808" y="5504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1 number"/>
          <p:cNvSpPr txBox="1"/>
          <p:nvPr/>
        </p:nvSpPr>
        <p:spPr>
          <a:xfrm>
            <a:off x="749808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tep 1 head"/>
          <p:cNvSpPr txBox="1"/>
          <p:nvPr/>
        </p:nvSpPr>
        <p:spPr>
          <a:xfrm>
            <a:off x="1234440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Правила клініки</a:t>
            </a:r>
            <a:endParaRPr lang="en-US" sz="1500" dirty="0"/>
          </a:p>
        </p:txBody>
      </p:sp>
      <p:sp>
        <p:nvSpPr>
          <p:cNvPr id="13" name="step 1 text"/>
          <p:cNvSpPr txBox="1"/>
          <p:nvPr/>
        </p:nvSpPr>
        <p:spPr>
          <a:xfrm>
            <a:off x="1234440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Пізніше 48 год — передоплата 800 грн згорає</a:t>
            </a:r>
            <a:endParaRPr lang="en-US" sz="1200" dirty="0"/>
          </a:p>
        </p:txBody>
      </p:sp>
      <p:sp>
        <p:nvSpPr>
          <p:cNvPr id="14" name="step 2"/>
          <p:cNvSpPr/>
          <p:nvPr/>
        </p:nvSpPr>
        <p:spPr>
          <a:xfrm>
            <a:off x="4338218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5" name="step 2 dot"/>
          <p:cNvSpPr/>
          <p:nvPr/>
        </p:nvSpPr>
        <p:spPr>
          <a:xfrm>
            <a:off x="4539386" y="5504688"/>
            <a:ext cx="365760" cy="365760"/>
          </a:xfrm>
          <a:prstGeom prst="ellipse">
            <a:avLst/>
          </a:prstGeom>
          <a:solidFill>
            <a:srgbClr val="F59F00"/>
          </a:solidFill>
          <a:ln/>
        </p:spPr>
      </p:sp>
      <p:sp>
        <p:nvSpPr>
          <p:cNvPr id="16" name="step 2 number"/>
          <p:cNvSpPr txBox="1"/>
          <p:nvPr/>
        </p:nvSpPr>
        <p:spPr>
          <a:xfrm>
            <a:off x="4539386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step 2 head"/>
          <p:cNvSpPr txBox="1"/>
          <p:nvPr/>
        </p:nvSpPr>
        <p:spPr>
          <a:xfrm>
            <a:off x="5024018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Два погодження</a:t>
            </a:r>
            <a:endParaRPr lang="en-US" sz="1500" dirty="0"/>
          </a:p>
        </p:txBody>
      </p:sp>
      <p:sp>
        <p:nvSpPr>
          <p:cNvPr id="18" name="step 2 text"/>
          <p:cNvSpPr txBox="1"/>
          <p:nvPr/>
        </p:nvSpPr>
        <p:spPr>
          <a:xfrm>
            <a:off x="5024018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Спершу повернення, потім скасування</a:t>
            </a:r>
            <a:endParaRPr lang="en-US" sz="1200" dirty="0"/>
          </a:p>
        </p:txBody>
      </p:sp>
      <p:sp>
        <p:nvSpPr>
          <p:cNvPr id="19" name="step 3"/>
          <p:cNvSpPr/>
          <p:nvPr/>
        </p:nvSpPr>
        <p:spPr>
          <a:xfrm>
            <a:off x="8127797" y="5303520"/>
            <a:ext cx="3515258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20" name="step 3 dot"/>
          <p:cNvSpPr/>
          <p:nvPr/>
        </p:nvSpPr>
        <p:spPr>
          <a:xfrm>
            <a:off x="8328965" y="5504688"/>
            <a:ext cx="365760" cy="36576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1" name="step 3 number"/>
          <p:cNvSpPr txBox="1"/>
          <p:nvPr/>
        </p:nvSpPr>
        <p:spPr>
          <a:xfrm>
            <a:off x="8328965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tep 3 head"/>
          <p:cNvSpPr txBox="1"/>
          <p:nvPr/>
        </p:nvSpPr>
        <p:spPr>
          <a:xfrm>
            <a:off x="8813597" y="5468112"/>
            <a:ext cx="2646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Результат</a:t>
            </a:r>
            <a:endParaRPr lang="en-US" sz="1500" dirty="0"/>
          </a:p>
        </p:txBody>
      </p:sp>
      <p:sp>
        <p:nvSpPr>
          <p:cNvPr id="23" name="step 3 text"/>
          <p:cNvSpPr txBox="1"/>
          <p:nvPr/>
        </p:nvSpPr>
        <p:spPr>
          <a:xfrm>
            <a:off x="8813597" y="5870448"/>
            <a:ext cx="2646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Запис скасовано, 800 грн повернено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Один агент — різні правила кожного бізнесу</a:t>
            </a:r>
            <a:endParaRPr lang="en-US" sz="3200" dirty="0"/>
          </a:p>
        </p:txBody>
      </p:sp>
      <p:graphicFrame>
        <p:nvGraphicFramePr>
          <p:cNvPr id="10" name="poli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4980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Правило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Lumen Beauty (салон)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DentaPlus (клініка)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Безкоштовне скасування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 24 год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за 48 год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Штраф за неявку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 грн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500 грн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Перенесення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сам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сам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Скасування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сам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з погодженням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Повернення передоплати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сам до 500 грн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з погодженням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Виняток з доброї волі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сам (1 раз / 180 днів, без неявок)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з погодженням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Зняти штраф за неявку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з погодженням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заборонено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rol card"/>
          <p:cNvSpPr/>
          <p:nvPr/>
        </p:nvSpPr>
        <p:spPr>
          <a:xfrm>
            <a:off x="8321040" y="1417320"/>
            <a:ext cx="3322015" cy="3803904"/>
          </a:xfrm>
          <a:prstGeom prst="roundRect">
            <a:avLst>
              <a:gd name="adj" fmla="val 330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5" name="control icon bg"/>
          <p:cNvSpPr/>
          <p:nvPr/>
        </p:nvSpPr>
        <p:spPr>
          <a:xfrm>
            <a:off x="8595360" y="169164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6" name="contro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76" y="1819656"/>
            <a:ext cx="310896" cy="310896"/>
          </a:xfrm>
          <a:prstGeom prst="rect">
            <a:avLst/>
          </a:prstGeom>
        </p:spPr>
      </p:pic>
      <p:sp>
        <p:nvSpPr>
          <p:cNvPr id="7" name="control head"/>
          <p:cNvSpPr txBox="1"/>
          <p:nvPr/>
        </p:nvSpPr>
        <p:spPr>
          <a:xfrm>
            <a:off x="8595360" y="2441448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Власник керує ризиком</a:t>
            </a:r>
            <a:endParaRPr lang="en-US" sz="1800" dirty="0"/>
          </a:p>
        </p:txBody>
      </p:sp>
      <p:sp>
        <p:nvSpPr>
          <p:cNvPr id="8" name="control text"/>
          <p:cNvSpPr txBox="1"/>
          <p:nvPr/>
        </p:nvSpPr>
        <p:spPr>
          <a:xfrm>
            <a:off x="8595360" y="2990088"/>
            <a:ext cx="2773375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Правила й дозволи агента змінюються в адмінці без коду. Агент читає їх на кожному кроці, а платформа перевіряє цілісність даних: вільний слот, сума, стан запису.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Справжній продукт, а не макет</a:t>
            </a:r>
            <a:endParaRPr lang="en-US" sz="3200" dirty="0"/>
          </a:p>
        </p:txBody>
      </p:sp>
      <p:pic>
        <p:nvPicPr>
          <p:cNvPr id="3" name="video product-tour.mp4" descr="Кадр з відео product-tour.mp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343400"/>
          </a:xfrm>
          <a:prstGeom prst="rect">
            <a:avLst/>
          </a:prstGeom>
        </p:spPr>
      </p:pic>
      <p:sp>
        <p:nvSpPr>
          <p:cNvPr id="4" name="insert video badge"/>
          <p:cNvSpPr/>
          <p:nvPr/>
        </p:nvSpPr>
        <p:spPr>
          <a:xfrm>
            <a:off x="2560320" y="3314700"/>
            <a:ext cx="2926080" cy="548640"/>
          </a:xfrm>
          <a:prstGeom prst="roundRect">
            <a:avLst>
              <a:gd name="adj" fmla="val 50000"/>
            </a:avLst>
          </a:prstGeom>
          <a:solidFill>
            <a:schemeClr val="tx1">
              <a:alpha val="85000"/>
            </a:schemeClr>
          </a:solidFill>
          <a:ln/>
        </p:spPr>
      </p:sp>
      <p:sp>
        <p:nvSpPr>
          <p:cNvPr id="5" name="insert video label"/>
          <p:cNvSpPr txBox="1"/>
          <p:nvPr/>
        </p:nvSpPr>
        <p:spPr>
          <a:xfrm>
            <a:off x="2560320" y="33147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▶  вставити product-tour.mp4</a:t>
            </a:r>
            <a:endParaRPr lang="en-US" sz="1400" dirty="0"/>
          </a:p>
        </p:txBody>
      </p:sp>
      <p:sp>
        <p:nvSpPr>
          <p:cNvPr id="6" name="tour icon bg 0"/>
          <p:cNvSpPr/>
          <p:nvPr/>
        </p:nvSpPr>
        <p:spPr>
          <a:xfrm>
            <a:off x="7863840" y="141732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7" name="tour icon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56" y="1545336"/>
            <a:ext cx="310896" cy="310896"/>
          </a:xfrm>
          <a:prstGeom prst="rect">
            <a:avLst/>
          </a:prstGeom>
        </p:spPr>
      </p:pic>
      <p:sp>
        <p:nvSpPr>
          <p:cNvPr id="8" name="tour head 0"/>
          <p:cNvSpPr txBox="1"/>
          <p:nvPr/>
        </p:nvSpPr>
        <p:spPr>
          <a:xfrm>
            <a:off x="8641080" y="141732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Сторінка бізнесу і запис</a:t>
            </a:r>
            <a:endParaRPr lang="en-US" sz="1700" dirty="0"/>
          </a:p>
        </p:txBody>
      </p:sp>
      <p:sp>
        <p:nvSpPr>
          <p:cNvPr id="9" name="tour text 0"/>
          <p:cNvSpPr txBox="1"/>
          <p:nvPr/>
        </p:nvSpPr>
        <p:spPr>
          <a:xfrm>
            <a:off x="8641080" y="1801368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Послуги, майстри, правила, вільні слоти, передоплата</a:t>
            </a:r>
            <a:endParaRPr lang="en-US" sz="1400" dirty="0"/>
          </a:p>
        </p:txBody>
      </p:sp>
      <p:sp>
        <p:nvSpPr>
          <p:cNvPr id="10" name="tour icon bg 1"/>
          <p:cNvSpPr/>
          <p:nvPr/>
        </p:nvSpPr>
        <p:spPr>
          <a:xfrm>
            <a:off x="7863840" y="288036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1" name="tour icon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008376"/>
            <a:ext cx="310896" cy="310896"/>
          </a:xfrm>
          <a:prstGeom prst="rect">
            <a:avLst/>
          </a:prstGeom>
        </p:spPr>
      </p:pic>
      <p:sp>
        <p:nvSpPr>
          <p:cNvPr id="12" name="tour head 1"/>
          <p:cNvSpPr txBox="1"/>
          <p:nvPr/>
        </p:nvSpPr>
        <p:spPr>
          <a:xfrm>
            <a:off x="8641080" y="288036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Адмінка</a:t>
            </a:r>
            <a:endParaRPr lang="en-US" sz="1700" dirty="0"/>
          </a:p>
        </p:txBody>
      </p:sp>
      <p:sp>
        <p:nvSpPr>
          <p:cNvPr id="13" name="tour text 1"/>
          <p:cNvSpPr txBox="1"/>
          <p:nvPr/>
        </p:nvSpPr>
        <p:spPr>
          <a:xfrm>
            <a:off x="8641080" y="3264408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Тиждень бронювань, дії агента з міткою «AI», клієнти, майстри, послуги</a:t>
            </a:r>
            <a:endParaRPr lang="en-US" sz="1400" dirty="0"/>
          </a:p>
        </p:txBody>
      </p:sp>
      <p:sp>
        <p:nvSpPr>
          <p:cNvPr id="14" name="tour icon bg 2"/>
          <p:cNvSpPr/>
          <p:nvPr/>
        </p:nvSpPr>
        <p:spPr>
          <a:xfrm>
            <a:off x="7863840" y="434340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5" name="tour icon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4471416"/>
            <a:ext cx="310896" cy="310896"/>
          </a:xfrm>
          <a:prstGeom prst="rect">
            <a:avLst/>
          </a:prstGeom>
        </p:spPr>
      </p:pic>
      <p:sp>
        <p:nvSpPr>
          <p:cNvPr id="16" name="tour head 2"/>
          <p:cNvSpPr txBox="1"/>
          <p:nvPr/>
        </p:nvSpPr>
        <p:spPr>
          <a:xfrm>
            <a:off x="8641080" y="4343400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Відкриті інтеграції</a:t>
            </a:r>
            <a:endParaRPr lang="en-US" sz="1700" dirty="0"/>
          </a:p>
        </p:txBody>
      </p:sp>
      <p:sp>
        <p:nvSpPr>
          <p:cNvPr id="17" name="tour text 2"/>
          <p:cNvSpPr txBox="1"/>
          <p:nvPr/>
        </p:nvSpPr>
        <p:spPr>
          <a:xfrm>
            <a:off x="8641080" y="4727448"/>
            <a:ext cx="3001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HTTP API, MCP-сервер для агента, віджет одним рядком коду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Що отримує команда підтримки</a:t>
            </a:r>
            <a:endParaRPr lang="en-US" sz="3200" dirty="0"/>
          </a:p>
        </p:txBody>
      </p:sp>
      <p:sp>
        <p:nvSpPr>
          <p:cNvPr id="3" name="stat 0"/>
          <p:cNvSpPr/>
          <p:nvPr/>
        </p:nvSpPr>
        <p:spPr>
          <a:xfrm>
            <a:off x="548640" y="146304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stat 0 value"/>
          <p:cNvSpPr txBox="1"/>
          <p:nvPr/>
        </p:nvSpPr>
        <p:spPr>
          <a:xfrm>
            <a:off x="822960" y="164592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 з 4</a:t>
            </a:r>
            <a:endParaRPr lang="en-US" sz="4800" dirty="0"/>
          </a:p>
        </p:txBody>
      </p:sp>
      <p:sp>
        <p:nvSpPr>
          <p:cNvPr id="5" name="stat 0 label"/>
          <p:cNvSpPr txBox="1"/>
          <p:nvPr/>
        </p:nvSpPr>
        <p:spPr>
          <a:xfrm>
            <a:off x="822960" y="26060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демо-звернення вирішено до кінця, а не лише відповіддю</a:t>
            </a:r>
            <a:endParaRPr lang="en-US" sz="1400" dirty="0"/>
          </a:p>
        </p:txBody>
      </p:sp>
      <p:sp>
        <p:nvSpPr>
          <p:cNvPr id="6" name="stat 1"/>
          <p:cNvSpPr/>
          <p:nvPr/>
        </p:nvSpPr>
        <p:spPr>
          <a:xfrm>
            <a:off x="4338218" y="146304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4612538" y="164592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1 клік</a:t>
            </a:r>
            <a:endParaRPr lang="en-US" sz="4800" dirty="0"/>
          </a:p>
        </p:txBody>
      </p:sp>
      <p:sp>
        <p:nvSpPr>
          <p:cNvPr id="8" name="stat 1 label"/>
          <p:cNvSpPr txBox="1"/>
          <p:nvPr/>
        </p:nvSpPr>
        <p:spPr>
          <a:xfrm>
            <a:off x="4612538" y="26060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щоб адміністратор погодив ризикову дію з готовим розбором</a:t>
            </a:r>
            <a:endParaRPr lang="en-US" sz="1400" dirty="0"/>
          </a:p>
        </p:txBody>
      </p:sp>
      <p:sp>
        <p:nvSpPr>
          <p:cNvPr id="9" name="stat 2"/>
          <p:cNvSpPr/>
          <p:nvPr/>
        </p:nvSpPr>
        <p:spPr>
          <a:xfrm>
            <a:off x="8127797" y="146304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8402117" y="164592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1 700 грн</a:t>
            </a:r>
            <a:endParaRPr lang="en-US" sz="4800" dirty="0"/>
          </a:p>
        </p:txBody>
      </p:sp>
      <p:sp>
        <p:nvSpPr>
          <p:cNvPr id="11" name="stat 2 label"/>
          <p:cNvSpPr txBox="1"/>
          <p:nvPr/>
        </p:nvSpPr>
        <p:spPr>
          <a:xfrm>
            <a:off x="8402117" y="260604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передоплат збережено або повернено клієнтам у демо</a:t>
            </a:r>
            <a:endParaRPr lang="en-US" sz="1400" dirty="0"/>
          </a:p>
        </p:txBody>
      </p:sp>
      <p:sp>
        <p:nvSpPr>
          <p:cNvPr id="12" name="analytics card"/>
          <p:cNvSpPr/>
          <p:nvPr/>
        </p:nvSpPr>
        <p:spPr>
          <a:xfrm>
            <a:off x="548640" y="3840480"/>
            <a:ext cx="541004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3" name="analytics icon bg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4" name="analytic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242816"/>
            <a:ext cx="310896" cy="310896"/>
          </a:xfrm>
          <a:prstGeom prst="rect">
            <a:avLst/>
          </a:prstGeom>
        </p:spPr>
      </p:pic>
      <p:sp>
        <p:nvSpPr>
          <p:cNvPr id="15" name="analytics head"/>
          <p:cNvSpPr txBox="1"/>
          <p:nvPr/>
        </p:nvSpPr>
        <p:spPr>
          <a:xfrm>
            <a:off x="822960" y="4864608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Аналітика взаємодій</a:t>
            </a:r>
            <a:endParaRPr lang="en-US" sz="1800" dirty="0"/>
          </a:p>
        </p:txBody>
      </p:sp>
      <p:sp>
        <p:nvSpPr>
          <p:cNvPr id="16" name="analytics text"/>
          <p:cNvSpPr txBox="1"/>
          <p:nvPr/>
        </p:nvSpPr>
        <p:spPr>
          <a:xfrm>
            <a:off x="822960" y="5413248"/>
            <a:ext cx="486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Copilot рахує наміри, емоції, авто-дії, погодження, ескалації та збережені гроші — видно, де AI закриває звернення сам.</a:t>
            </a:r>
            <a:endParaRPr lang="en-US" sz="1400" dirty="0"/>
          </a:p>
        </p:txBody>
      </p:sp>
      <p:sp>
        <p:nvSpPr>
          <p:cNvPr id="17" name="channels card"/>
          <p:cNvSpPr/>
          <p:nvPr/>
        </p:nvSpPr>
        <p:spPr>
          <a:xfrm>
            <a:off x="6233008" y="3840480"/>
            <a:ext cx="541004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6163A">
                <a:alpha val="12000"/>
              </a:srgbClr>
            </a:outerShdw>
          </a:effectLst>
        </p:spPr>
      </p:sp>
      <p:sp>
        <p:nvSpPr>
          <p:cNvPr id="18" name="channels icon bg"/>
          <p:cNvSpPr/>
          <p:nvPr/>
        </p:nvSpPr>
        <p:spPr>
          <a:xfrm>
            <a:off x="6507328" y="4114800"/>
            <a:ext cx="566928" cy="566928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9" name="channel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4242816"/>
            <a:ext cx="310896" cy="310896"/>
          </a:xfrm>
          <a:prstGeom prst="rect">
            <a:avLst/>
          </a:prstGeom>
        </p:spPr>
      </p:pic>
      <p:sp>
        <p:nvSpPr>
          <p:cNvPr id="20" name="channels head"/>
          <p:cNvSpPr txBox="1"/>
          <p:nvPr/>
        </p:nvSpPr>
        <p:spPr>
          <a:xfrm>
            <a:off x="6507328" y="4864608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Будь-який канал</a:t>
            </a:r>
            <a:endParaRPr lang="en-US" sz="1800" dirty="0"/>
          </a:p>
        </p:txBody>
      </p:sp>
      <p:sp>
        <p:nvSpPr>
          <p:cNvPr id="21" name="channels text"/>
          <p:cNvSpPr txBox="1"/>
          <p:nvPr/>
        </p:nvSpPr>
        <p:spPr>
          <a:xfrm>
            <a:off x="6507328" y="5413248"/>
            <a:ext cx="486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Чат на сайті, віджет на сайті бізнесу, телефон через Vapi — однакові інструменти й правила, одна черга погоджень.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Як ми закриваємо критерії оцінювання</a:t>
            </a:r>
            <a:endParaRPr lang="en-US" sz="3200" dirty="0"/>
          </a:p>
        </p:txBody>
      </p:sp>
      <p:sp>
        <p:nvSpPr>
          <p:cNvPr id="3" name="criterion 0"/>
          <p:cNvSpPr/>
          <p:nvPr/>
        </p:nvSpPr>
        <p:spPr>
          <a:xfrm>
            <a:off x="548640" y="1371600"/>
            <a:ext cx="11094415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4" name="criterion 0 name"/>
          <p:cNvSpPr txBox="1"/>
          <p:nvPr/>
        </p:nvSpPr>
        <p:spPr>
          <a:xfrm>
            <a:off x="822960" y="13716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Operational Impact</a:t>
            </a:r>
            <a:endParaRPr lang="en-US" sz="1700" dirty="0"/>
          </a:p>
        </p:txBody>
      </p:sp>
      <p:sp>
        <p:nvSpPr>
          <p:cNvPr id="5" name="criterion 0 text"/>
          <p:cNvSpPr txBox="1"/>
          <p:nvPr/>
        </p:nvSpPr>
        <p:spPr>
          <a:xfrm>
            <a:off x="4023360" y="1371600"/>
            <a:ext cx="7345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Звернення закриваються діями в системі; людина — лише для ризикових рішень</a:t>
            </a:r>
            <a:endParaRPr lang="en-US" sz="1500" dirty="0"/>
          </a:p>
        </p:txBody>
      </p:sp>
      <p:sp>
        <p:nvSpPr>
          <p:cNvPr id="6" name="criterion 1"/>
          <p:cNvSpPr/>
          <p:nvPr/>
        </p:nvSpPr>
        <p:spPr>
          <a:xfrm>
            <a:off x="548640" y="2286000"/>
            <a:ext cx="11094415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/>
        </p:spPr>
      </p:sp>
      <p:sp>
        <p:nvSpPr>
          <p:cNvPr id="7" name="criterion 1 name"/>
          <p:cNvSpPr txBox="1"/>
          <p:nvPr/>
        </p:nvSpPr>
        <p:spPr>
          <a:xfrm>
            <a:off x="822960" y="22860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Innovation</a:t>
            </a:r>
            <a:endParaRPr lang="en-US" sz="1700" dirty="0"/>
          </a:p>
        </p:txBody>
      </p:sp>
      <p:sp>
        <p:nvSpPr>
          <p:cNvPr id="8" name="criterion 1 text"/>
          <p:cNvSpPr txBox="1"/>
          <p:nvPr/>
        </p:nvSpPr>
        <p:spPr>
          <a:xfrm>
            <a:off x="4023360" y="2286000"/>
            <a:ext cx="7345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Permission engine, який налаштовує власник, і один агент для будь-якого бізнесу</a:t>
            </a:r>
            <a:endParaRPr lang="en-US" sz="1500" dirty="0"/>
          </a:p>
        </p:txBody>
      </p:sp>
      <p:sp>
        <p:nvSpPr>
          <p:cNvPr id="9" name="criterion 2"/>
          <p:cNvSpPr/>
          <p:nvPr/>
        </p:nvSpPr>
        <p:spPr>
          <a:xfrm>
            <a:off x="548640" y="3200400"/>
            <a:ext cx="11094415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0" name="criterion 2 name"/>
          <p:cNvSpPr txBox="1"/>
          <p:nvPr/>
        </p:nvSpPr>
        <p:spPr>
          <a:xfrm>
            <a:off x="822960" y="32004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Use of AI</a:t>
            </a:r>
            <a:endParaRPr lang="en-US" sz="1700" dirty="0"/>
          </a:p>
        </p:txBody>
      </p:sp>
      <p:sp>
        <p:nvSpPr>
          <p:cNvPr id="11" name="criterion 2 text"/>
          <p:cNvSpPr txBox="1"/>
          <p:nvPr/>
        </p:nvSpPr>
        <p:spPr>
          <a:xfrm>
            <a:off x="4023360" y="3200400"/>
            <a:ext cx="7345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Оркестратор Claude Sonnet, Gemma 4 для простих питань, агент з інструментами</a:t>
            </a:r>
            <a:endParaRPr lang="en-US" sz="1500" dirty="0"/>
          </a:p>
        </p:txBody>
      </p:sp>
      <p:sp>
        <p:nvSpPr>
          <p:cNvPr id="12" name="criterion 3"/>
          <p:cNvSpPr/>
          <p:nvPr/>
        </p:nvSpPr>
        <p:spPr>
          <a:xfrm>
            <a:off x="548640" y="4114800"/>
            <a:ext cx="11094415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/>
        </p:spPr>
      </p:sp>
      <p:sp>
        <p:nvSpPr>
          <p:cNvPr id="13" name="criterion 3 name"/>
          <p:cNvSpPr txBox="1"/>
          <p:nvPr/>
        </p:nvSpPr>
        <p:spPr>
          <a:xfrm>
            <a:off x="822960" y="41148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Reasoning &amp; Context</a:t>
            </a:r>
            <a:endParaRPr lang="en-US" sz="1700" dirty="0"/>
          </a:p>
        </p:txBody>
      </p:sp>
      <p:sp>
        <p:nvSpPr>
          <p:cNvPr id="14" name="criterion 3 text"/>
          <p:cNvSpPr txBox="1"/>
          <p:nvPr/>
        </p:nvSpPr>
        <p:spPr>
          <a:xfrm>
            <a:off x="4023360" y="4114800"/>
            <a:ext cx="7345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Рішення залежить від історії клієнта, правил бізнесу та емоції звернення</a:t>
            </a:r>
            <a:endParaRPr lang="en-US" sz="1500" dirty="0"/>
          </a:p>
        </p:txBody>
      </p:sp>
      <p:sp>
        <p:nvSpPr>
          <p:cNvPr id="15" name="criterion 4"/>
          <p:cNvSpPr/>
          <p:nvPr/>
        </p:nvSpPr>
        <p:spPr>
          <a:xfrm>
            <a:off x="548640" y="5029200"/>
            <a:ext cx="11094415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6" name="criterion 4 name"/>
          <p:cNvSpPr txBox="1"/>
          <p:nvPr/>
        </p:nvSpPr>
        <p:spPr>
          <a:xfrm>
            <a:off x="822960" y="50292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Presentation &amp; Demo</a:t>
            </a:r>
            <a:endParaRPr lang="en-US" sz="1700" dirty="0"/>
          </a:p>
        </p:txBody>
      </p:sp>
      <p:sp>
        <p:nvSpPr>
          <p:cNvPr id="17" name="criterion 4 text"/>
          <p:cNvSpPr txBox="1"/>
          <p:nvPr/>
        </p:nvSpPr>
        <p:spPr>
          <a:xfrm>
            <a:off x="4023360" y="5029200"/>
            <a:ext cx="7345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Працюючий продукт: сайт, адмінка, API, MCP, телефон — усе на відео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Дякуємо!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Далі: інтеграція з календарями й CRM салонів, SMS-нагадування, прогноз неявок і передоплата для ризикових клієнтів</a:t>
            </a:r>
            <a:endParaRPr lang="en-US" sz="2200" dirty="0"/>
          </a:p>
        </p:txBody>
      </p:sp>
      <p:sp>
        <p:nvSpPr>
          <p:cNvPr id="4" name="repo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github.com/redrembo24680/polytech_hack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okly Pitch">
  <a:themeElements>
    <a:clrScheme name="Bookly Pitch">
      <a:dk1>
        <a:srgbClr val="16163A"/>
      </a:dk1>
      <a:lt1>
        <a:srgbClr val="FFFFFF"/>
      </a:lt1>
      <a:dk2>
        <a:srgbClr val="4B4E6D"/>
      </a:dk2>
      <a:lt2>
        <a:srgbClr val="F1F2FB"/>
      </a:lt2>
      <a:accent1>
        <a:srgbClr val="4F46E5"/>
      </a:accent1>
      <a:accent2>
        <a:srgbClr val="F2665C"/>
      </a:accent2>
      <a:accent3>
        <a:srgbClr val="12B886"/>
      </a:accent3>
      <a:accent4>
        <a:srgbClr val="F59F00"/>
      </a:accent4>
      <a:accent5>
        <a:srgbClr val="868AA8"/>
      </a:accent5>
      <a:accent6>
        <a:srgbClr val="C7C9F5"/>
      </a:accent6>
      <a:hlink>
        <a:srgbClr val="4F46E5"/>
      </a:hlink>
      <a:folHlink>
        <a:srgbClr val="6D28D9"/>
      </a:folHlink>
    </a:clrScheme>
    <a:fontScheme name="Bookly Pi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Bookly — AI-підтримка, яка діє</dc:title>
  <dc:subject>PptxGenJS Presentation</dc:subject>
  <dc:creator>redrembo24680</dc:creator>
  <cp:lastModifiedBy>redrembo24680</cp:lastModifiedBy>
  <cp:revision>1</cp:revision>
  <dcterms:created xsi:type="dcterms:W3CDTF">2026-10-31T14:15:40Z</dcterms:created>
  <dcterms:modified xsi:type="dcterms:W3CDTF">2026-10-31T14:15:40Z</dcterms:modified>
</cp:coreProperties>
</file>