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ступ" id="{436cbec5-e52d-d891-a31d-1e619f763091}">
          <p14:sldIdLst>
            <p14:sldId id="256"/>
          </p14:sldIdLst>
        </p14:section>
        <p14:section name="Проблема і рішення" id="{d2272876-5f98-e091-d476-77ee517917c6}">
          <p14:sldIdLst>
            <p14:sldId id="257"/>
            <p14:sldId id="258"/>
          </p14:sldIdLst>
        </p14:section>
        <p14:section name="Як це працює" id="{87db786e-1d74-946a-3510-1d6069b816d1}">
          <p14:sldIdLst>
            <p14:sldId id="259"/>
          </p14:sldIdLst>
        </p14:section>
        <p14:section name="Демо" id="{c6d12330-3ad5-4ef2-9567-0b8925249dff}">
          <p14:sldIdLst>
            <p14:sldId id="260"/>
            <p14:sldId id="261"/>
            <p14:sldId id="262"/>
          </p14:sldIdLst>
        </p14:section>
        <p14:section name="Чому це працює" id="{8d6172e8-f674-9bc7-742e-394bd88354f9}">
          <p14:sldIdLst>
            <p14:sldId id="263"/>
            <p14:sldId id="264"/>
          </p14:sldIdLst>
        </p14:section>
        <p14:section name="Підсумок" id="{116006b1-b93d-f3fe-14cc-b22abbac3ae9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Ми зробили не чат-бот, а операційного асистента для підтримки. Клієнт пише як людині — агент сам розбирається, що сталося, і виконує дію в системі бізнесу, а ризикові рішення віддає адміністратору.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Біль реальний: до чверті записів не доходять, а адміністратор вручну перевіряє правила й переносить записи. Боти не допомагають — вони не мають доступу до системи. Ми зробили платформу для бізнесів за записом і агента, який працює поверх неї: читає правила саме цього бізнесу й виконує дії, а ризикові рішення віддає людині.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Ринок: у салонах близько 20% записів — неявки, це в середньому $3 600 втрат на місяць. Передоплата й чіткі правила скасування знижують неявки майже вдвічі — саме їх наш агент і застосовує автоматично. Конкуренти: Fresha вже має AI-консьєржа, але без налаштовуваних правил і погоджень; у Booksy власного AI-агента немає; Intercom Fin і Zendesk — загальні helpdesk-и, де за кожне рішення платять $0,99–2 і все треба інтегрувати самому. Ми — вертикальне рішення для бізнесів за записом, де AI діє за правилами власника. Цифри — оцінки вендорів, джерела внизу слайда.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Кожне повідомлення спершу проходить тріаж: що людина хоче, у якому вона стані, чи це терміново. Прості питання дешево закриває Gemma 4. Усе, що змінює дані, йде через агента, а кожна дія перевіряється правилами бізнесу — модель не може обійти permission engine.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Агент не просто співчуває — він бачить, що це лояльна клієнтка, а політика салону дозволяє один виняток на пів року без погодження. Тому сам переносить і зберігає передоплату. В copilot видно кожен виклик інструмента.
Відео: presentation/videos/scene-A.mp4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Однакове звернення — інше рішення, бо інший контекст. Агент чесно пояснює клієнту, що чекає на рішення, а адміністратор отримує готовий розбір і кнопку «схвалити».
Відео: presentation/videos/scene-B.mp4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Той самий агент у іншому бізнесі поводиться обережніше, бо правила інші. Він розбиває задачу на дві дії, кожну погоджує людина, і тримає клієнта в курсі.
Відео: presentation/videos/scene-C.mp4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Це головна ідея повторного використання: агент не захардкожений під салон. Власник у налаштуваннях вирішує, що AI робить сам, а що лише з погодженням. Тому однакове звернення в салоні й клініці закінчується по-різному.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Під агентом — працююча платформа: мульти-тенант, PostgreSQL, Docker, 119 тестів бекенду. Будь-який салон чи клініка реєструється, налаштовує правила — і AI-підтримка працює одразу. Відео: presentation/videos/product-tour.mp4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Цифри з демо: 500 грн Олени і 400 грн Максима збережено, 800 грн Петру повернено. Критерії: Operational Impact — звернення закриваються діями, людина лише для ризикових рішень; Innovation — permission engine, який налаштовує власник; Use of AI — оркестратор Claude Sonnet, Gemma 4, агент з інструментами; Reasoning &amp; Context — рішення залежить від історії клієнта й правил бізнесу; Demo — працюючий продукт. Підсумок: AI тут не інтерфейс спілкування, а учасник операцій. Наступні кроки — інтеграції й прогнозування неявок на даних, які платформа вже збирає.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 Title">
    <p:bg>
      <p:bgPr>
        <a:solidFill>
          <a:srgbClr val="1616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011680"/>
            <a:ext cx="86868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49040"/>
            <a:ext cx="86868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mo">
    <p:bg>
      <p:bgPr>
        <a:solidFill>
          <a:srgbClr val="F1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vent"/>
          <p:cNvSpPr txBox="1"/>
          <p:nvPr/>
        </p:nvSpPr>
        <p:spPr>
          <a:xfrm>
            <a:off x="548640" y="548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PolyTech Code Fest · AI Customer Support Automation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011680"/>
            <a:ext cx="8686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AI-підтримка, яка не пояснює, а вирішує</a:t>
            </a:r>
            <a:endParaRPr lang="en-US" sz="48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3749040"/>
            <a:ext cx="8686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6"/>
                </a:solidFill>
              </a:rPr>
              <a:t>Bookly — платформа для бізнесів за записом і AI-агент, що сам переносить, скасовує та повертає гроші за правилами кожного бізнесу</a:t>
            </a:r>
            <a:endParaRPr lang="en-US" sz="2200" dirty="0"/>
          </a:p>
        </p:txBody>
      </p:sp>
      <p:sp>
        <p:nvSpPr>
          <p:cNvPr id="5" name="hero circle"/>
          <p:cNvSpPr/>
          <p:nvPr/>
        </p:nvSpPr>
        <p:spPr>
          <a:xfrm>
            <a:off x="9692640" y="1965960"/>
            <a:ext cx="2011680" cy="20116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hero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95560" y="2468880"/>
            <a:ext cx="1005840" cy="10058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Рутина підтримки → AI, який сам діє в системі</a:t>
            </a:r>
            <a:endParaRPr lang="en-US" sz="3200" dirty="0"/>
          </a:p>
        </p:txBody>
      </p:sp>
      <p:sp>
        <p:nvSpPr>
          <p:cNvPr id="3" name="problem label"/>
          <p:cNvSpPr txBox="1"/>
          <p:nvPr/>
        </p:nvSpPr>
        <p:spPr>
          <a:xfrm>
            <a:off x="548640" y="128016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ПРОБЛЕМА</a:t>
            </a:r>
            <a:endParaRPr lang="en-US" sz="1200" dirty="0"/>
          </a:p>
        </p:txBody>
      </p:sp>
      <p:sp>
        <p:nvSpPr>
          <p:cNvPr id="4" name="pain 1"/>
          <p:cNvSpPr/>
          <p:nvPr/>
        </p:nvSpPr>
        <p:spPr>
          <a:xfrm>
            <a:off x="548640" y="1691640"/>
            <a:ext cx="5212080" cy="1051560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/>
        </p:spPr>
      </p:sp>
      <p:sp>
        <p:nvSpPr>
          <p:cNvPr id="5" name="pain 1 icon bg"/>
          <p:cNvSpPr/>
          <p:nvPr/>
        </p:nvSpPr>
        <p:spPr>
          <a:xfrm>
            <a:off x="777240" y="1938528"/>
            <a:ext cx="566928" cy="566928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6" name="pain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256" y="2066544"/>
            <a:ext cx="310896" cy="310896"/>
          </a:xfrm>
          <a:prstGeom prst="rect">
            <a:avLst/>
          </a:prstGeom>
        </p:spPr>
      </p:pic>
      <p:sp>
        <p:nvSpPr>
          <p:cNvPr id="7" name="pain 1 head"/>
          <p:cNvSpPr txBox="1"/>
          <p:nvPr/>
        </p:nvSpPr>
        <p:spPr>
          <a:xfrm>
            <a:off x="1554480" y="182880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«Перенесіть», «поверніть»</a:t>
            </a:r>
            <a:endParaRPr lang="en-US" sz="1700" dirty="0"/>
          </a:p>
        </p:txBody>
      </p:sp>
      <p:sp>
        <p:nvSpPr>
          <p:cNvPr id="8" name="pain 1 text"/>
          <p:cNvSpPr txBox="1"/>
          <p:nvPr/>
        </p:nvSpPr>
        <p:spPr>
          <a:xfrm>
            <a:off x="1554480" y="2212848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Адміністратор цілий день робить однакові дії вручну</a:t>
            </a:r>
            <a:endParaRPr lang="en-US" sz="1400" dirty="0"/>
          </a:p>
        </p:txBody>
      </p:sp>
      <p:sp>
        <p:nvSpPr>
          <p:cNvPr id="9" name="pain 2"/>
          <p:cNvSpPr/>
          <p:nvPr/>
        </p:nvSpPr>
        <p:spPr>
          <a:xfrm>
            <a:off x="548640" y="2926080"/>
            <a:ext cx="5212080" cy="1051560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/>
        </p:spPr>
      </p:sp>
      <p:sp>
        <p:nvSpPr>
          <p:cNvPr id="10" name="pain 2 icon bg"/>
          <p:cNvSpPr/>
          <p:nvPr/>
        </p:nvSpPr>
        <p:spPr>
          <a:xfrm>
            <a:off x="777240" y="3172968"/>
            <a:ext cx="566928" cy="566928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11" name="pain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" y="3300984"/>
            <a:ext cx="310896" cy="310896"/>
          </a:xfrm>
          <a:prstGeom prst="rect">
            <a:avLst/>
          </a:prstGeom>
        </p:spPr>
      </p:pic>
      <p:sp>
        <p:nvSpPr>
          <p:cNvPr id="12" name="pain 2 head"/>
          <p:cNvSpPr txBox="1"/>
          <p:nvPr/>
        </p:nvSpPr>
        <p:spPr>
          <a:xfrm>
            <a:off x="1554480" y="306324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15–23% записів — неявки</a:t>
            </a:r>
            <a:endParaRPr lang="en-US" sz="1700" dirty="0"/>
          </a:p>
        </p:txBody>
      </p:sp>
      <p:sp>
        <p:nvSpPr>
          <p:cNvPr id="13" name="pain 2 text"/>
          <p:cNvSpPr txBox="1"/>
          <p:nvPr/>
        </p:nvSpPr>
        <p:spPr>
          <a:xfrm>
            <a:off x="1554480" y="3447288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Передоплати, штрафи й винятки перевіряють вручну</a:t>
            </a:r>
            <a:endParaRPr lang="en-US" sz="1400" dirty="0"/>
          </a:p>
        </p:txBody>
      </p:sp>
      <p:sp>
        <p:nvSpPr>
          <p:cNvPr id="14" name="pain 3"/>
          <p:cNvSpPr/>
          <p:nvPr/>
        </p:nvSpPr>
        <p:spPr>
          <a:xfrm>
            <a:off x="548640" y="4160520"/>
            <a:ext cx="5212080" cy="1051560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/>
        </p:spPr>
      </p:sp>
      <p:sp>
        <p:nvSpPr>
          <p:cNvPr id="15" name="pain 3 icon bg"/>
          <p:cNvSpPr/>
          <p:nvPr/>
        </p:nvSpPr>
        <p:spPr>
          <a:xfrm>
            <a:off x="777240" y="4407408"/>
            <a:ext cx="566928" cy="566928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16" name="pain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" y="4535424"/>
            <a:ext cx="310896" cy="310896"/>
          </a:xfrm>
          <a:prstGeom prst="rect">
            <a:avLst/>
          </a:prstGeom>
        </p:spPr>
      </p:pic>
      <p:sp>
        <p:nvSpPr>
          <p:cNvPr id="17" name="pain 3 head"/>
          <p:cNvSpPr txBox="1"/>
          <p:nvPr/>
        </p:nvSpPr>
        <p:spPr>
          <a:xfrm>
            <a:off x="1554480" y="429768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Боти лише пояснюють</a:t>
            </a:r>
            <a:endParaRPr lang="en-US" sz="1700" dirty="0"/>
          </a:p>
        </p:txBody>
      </p:sp>
      <p:sp>
        <p:nvSpPr>
          <p:cNvPr id="18" name="pain 3 text"/>
          <p:cNvSpPr txBox="1"/>
          <p:nvPr/>
        </p:nvSpPr>
        <p:spPr>
          <a:xfrm>
            <a:off x="1554480" y="4681728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Розкажуть правила, але не перенесуть і не повернуть гроші</a:t>
            </a:r>
            <a:endParaRPr lang="en-US" sz="1400" dirty="0"/>
          </a:p>
        </p:txBody>
      </p:sp>
      <p:sp>
        <p:nvSpPr>
          <p:cNvPr id="19" name="solution label"/>
          <p:cNvSpPr txBox="1"/>
          <p:nvPr/>
        </p:nvSpPr>
        <p:spPr>
          <a:xfrm>
            <a:off x="6126480" y="1280160"/>
            <a:ext cx="55165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РІШЕННЯ</a:t>
            </a:r>
            <a:endParaRPr lang="en-US" sz="1200" dirty="0"/>
          </a:p>
        </p:txBody>
      </p:sp>
      <p:sp>
        <p:nvSpPr>
          <p:cNvPr id="20" name="solution card"/>
          <p:cNvSpPr/>
          <p:nvPr/>
        </p:nvSpPr>
        <p:spPr>
          <a:xfrm>
            <a:off x="6126480" y="1691640"/>
            <a:ext cx="5516575" cy="3520440"/>
          </a:xfrm>
          <a:prstGeom prst="roundRect">
            <a:avLst>
              <a:gd name="adj" fmla="val 3117"/>
            </a:avLst>
          </a:prstGeom>
          <a:solidFill>
            <a:schemeClr val="bg1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16163A">
                <a:alpha val="12000"/>
              </a:srgbClr>
            </a:outerShdw>
          </a:effectLst>
        </p:spPr>
      </p:sp>
      <p:sp>
        <p:nvSpPr>
          <p:cNvPr id="21" name="solution icon bg"/>
          <p:cNvSpPr/>
          <p:nvPr/>
        </p:nvSpPr>
        <p:spPr>
          <a:xfrm>
            <a:off x="6400800" y="1965960"/>
            <a:ext cx="566928" cy="566928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22" name="solution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8816" y="2093976"/>
            <a:ext cx="310896" cy="310896"/>
          </a:xfrm>
          <a:prstGeom prst="rect">
            <a:avLst/>
          </a:prstGeom>
        </p:spPr>
      </p:pic>
      <p:sp>
        <p:nvSpPr>
          <p:cNvPr id="23" name="solution head"/>
          <p:cNvSpPr txBox="1"/>
          <p:nvPr/>
        </p:nvSpPr>
        <p:spPr>
          <a:xfrm>
            <a:off x="6400800" y="2715768"/>
            <a:ext cx="4967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Bookly + AI-агент підтримки</a:t>
            </a:r>
            <a:endParaRPr lang="en-US" sz="1800" dirty="0"/>
          </a:p>
        </p:txBody>
      </p:sp>
      <p:sp>
        <p:nvSpPr>
          <p:cNvPr id="24" name="solution text"/>
          <p:cNvSpPr txBox="1"/>
          <p:nvPr/>
        </p:nvSpPr>
        <p:spPr>
          <a:xfrm>
            <a:off x="6400800" y="3264408"/>
            <a:ext cx="4967935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Платформа для салонів і клінік: запис, передоплата, адмінка, правила бізнесу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Агент розуміє намір і емоцію та діє інструментами: переносить, скасовує, повертає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Власник налаштовує, що AI робить сам, а що лише з погодженням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Чат на сайті, віджет, телефон — одні правила й одна черга погоджень</a:t>
            </a:r>
            <a:endParaRPr lang="en-US" sz="1500" dirty="0"/>
          </a:p>
        </p:txBody>
      </p:sp>
      <p:sp>
        <p:nvSpPr>
          <p:cNvPr id="25" name="key question"/>
          <p:cNvSpPr txBox="1"/>
          <p:nvPr/>
        </p:nvSpPr>
        <p:spPr>
          <a:xfrm>
            <a:off x="548640" y="54864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Питання не в тому, як швидше відповісти, </a:t>
            </a:r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а в тому, як вирішити проблему.</a:t>
            </a:r>
            <a:endParaRPr lang="en-US" sz="1800" dirty="0"/>
          </a:p>
        </p:txBody>
      </p:sp>
      <p:sp>
        <p:nvSpPr>
          <p:cNvPr id="26" name="source"/>
          <p:cNvSpPr txBox="1"/>
          <p:nvPr/>
        </p:nvSpPr>
        <p:spPr>
          <a:xfrm>
            <a:off x="548640" y="6172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Частка неявок: SchedulingKit, Appointment No-Show Statistics 2026 (оцінки вендора).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Ринок і конкуренти</a:t>
            </a:r>
            <a:endParaRPr lang="en-US" sz="3200" dirty="0"/>
          </a:p>
        </p:txBody>
      </p:sp>
      <p:sp>
        <p:nvSpPr>
          <p:cNvPr id="3" name="market stat 0"/>
          <p:cNvSpPr/>
          <p:nvPr/>
        </p:nvSpPr>
        <p:spPr>
          <a:xfrm>
            <a:off x="548640" y="1234440"/>
            <a:ext cx="2567864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sp>
        <p:nvSpPr>
          <p:cNvPr id="4" name="market stat 0 value"/>
          <p:cNvSpPr txBox="1"/>
          <p:nvPr/>
        </p:nvSpPr>
        <p:spPr>
          <a:xfrm>
            <a:off x="777240" y="1325880"/>
            <a:ext cx="2110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≈20%</a:t>
            </a:r>
            <a:endParaRPr lang="en-US" sz="3000" dirty="0"/>
          </a:p>
        </p:txBody>
      </p:sp>
      <p:sp>
        <p:nvSpPr>
          <p:cNvPr id="5" name="market stat 0 label"/>
          <p:cNvSpPr txBox="1"/>
          <p:nvPr/>
        </p:nvSpPr>
        <p:spPr>
          <a:xfrm>
            <a:off x="777240" y="1901952"/>
            <a:ext cx="2110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записів у салонах — неявки</a:t>
            </a:r>
            <a:endParaRPr lang="en-US" sz="1200" dirty="0"/>
          </a:p>
        </p:txBody>
      </p:sp>
      <p:sp>
        <p:nvSpPr>
          <p:cNvPr id="6" name="market stat 1"/>
          <p:cNvSpPr/>
          <p:nvPr/>
        </p:nvSpPr>
        <p:spPr>
          <a:xfrm>
            <a:off x="3390824" y="1234440"/>
            <a:ext cx="2567864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sp>
        <p:nvSpPr>
          <p:cNvPr id="7" name="market stat 1 value"/>
          <p:cNvSpPr txBox="1"/>
          <p:nvPr/>
        </p:nvSpPr>
        <p:spPr>
          <a:xfrm>
            <a:off x="3619424" y="1325880"/>
            <a:ext cx="2110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$3 600</a:t>
            </a:r>
            <a:endParaRPr lang="en-US" sz="3000" dirty="0"/>
          </a:p>
        </p:txBody>
      </p:sp>
      <p:sp>
        <p:nvSpPr>
          <p:cNvPr id="8" name="market stat 1 label"/>
          <p:cNvSpPr txBox="1"/>
          <p:nvPr/>
        </p:nvSpPr>
        <p:spPr>
          <a:xfrm>
            <a:off x="3619424" y="1901952"/>
            <a:ext cx="2110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втрат салону на місяць через неявки</a:t>
            </a:r>
            <a:endParaRPr lang="en-US" sz="1200" dirty="0"/>
          </a:p>
        </p:txBody>
      </p:sp>
      <p:sp>
        <p:nvSpPr>
          <p:cNvPr id="9" name="market stat 2"/>
          <p:cNvSpPr/>
          <p:nvPr/>
        </p:nvSpPr>
        <p:spPr>
          <a:xfrm>
            <a:off x="6233008" y="1234440"/>
            <a:ext cx="2567864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sp>
        <p:nvSpPr>
          <p:cNvPr id="10" name="market stat 2 value"/>
          <p:cNvSpPr txBox="1"/>
          <p:nvPr/>
        </p:nvSpPr>
        <p:spPr>
          <a:xfrm>
            <a:off x="6461608" y="1325880"/>
            <a:ext cx="2110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3"/>
                </a:solidFill>
              </a:rPr>
              <a:t>−45%</a:t>
            </a:r>
            <a:endParaRPr lang="en-US" sz="3000" dirty="0"/>
          </a:p>
        </p:txBody>
      </p:sp>
      <p:sp>
        <p:nvSpPr>
          <p:cNvPr id="11" name="market stat 2 label"/>
          <p:cNvSpPr txBox="1"/>
          <p:nvPr/>
        </p:nvSpPr>
        <p:spPr>
          <a:xfrm>
            <a:off x="6461608" y="1901952"/>
            <a:ext cx="2110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неявок, коли є передоплата й правила скасування</a:t>
            </a:r>
            <a:endParaRPr lang="en-US" sz="1200" dirty="0"/>
          </a:p>
        </p:txBody>
      </p:sp>
      <p:sp>
        <p:nvSpPr>
          <p:cNvPr id="12" name="market stat 3"/>
          <p:cNvSpPr/>
          <p:nvPr/>
        </p:nvSpPr>
        <p:spPr>
          <a:xfrm>
            <a:off x="9075191" y="1234440"/>
            <a:ext cx="2567864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sp>
        <p:nvSpPr>
          <p:cNvPr id="13" name="market stat 3 value"/>
          <p:cNvSpPr txBox="1"/>
          <p:nvPr/>
        </p:nvSpPr>
        <p:spPr>
          <a:xfrm>
            <a:off x="9303791" y="1325880"/>
            <a:ext cx="2110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$0,99–2</a:t>
            </a:r>
            <a:endParaRPr lang="en-US" sz="3000" dirty="0"/>
          </a:p>
        </p:txBody>
      </p:sp>
      <p:sp>
        <p:nvSpPr>
          <p:cNvPr id="14" name="market stat 3 label"/>
          <p:cNvSpPr txBox="1"/>
          <p:nvPr/>
        </p:nvSpPr>
        <p:spPr>
          <a:xfrm>
            <a:off x="9303791" y="1901952"/>
            <a:ext cx="2110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платить бізнес за одне AI-рішення в Intercom і Zendesk</a:t>
            </a:r>
            <a:endParaRPr lang="en-US" sz="1200" dirty="0"/>
          </a:p>
        </p:txBody>
      </p:sp>
      <p:graphicFrame>
        <p:nvGraphicFramePr>
          <p:cNvPr id="4" name="competitor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697480"/>
          <a:ext cx="11094415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874520"/>
                <a:gridCol w="2011680"/>
                <a:gridCol w="1737360"/>
                <a:gridCol w="2267712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Bookly</a:t>
                      </a:r>
                      <a:endParaRPr lang="en-US" sz="13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Fresha AI Concierge</a:t>
                      </a:r>
                      <a:endParaRPr lang="en-US" sz="13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Booksy</a:t>
                      </a:r>
                      <a:endParaRPr lang="en-US" sz="13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Intercom Fin / Zendesk AI</a:t>
                      </a:r>
                      <a:endParaRPr lang="en-US" sz="13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Сам переносить і скасовує записи</a:t>
                      </a:r>
                      <a:endParaRPr lang="en-US" sz="13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3"/>
                          </a:solidFill>
                        </a:rPr>
                        <a:t>так</a:t>
                      </a:r>
                      <a:endParaRPr lang="en-US" sz="13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3"/>
                          </a:solidFill>
                        </a:rPr>
                        <a:t>так</a:t>
                      </a:r>
                      <a:endParaRPr lang="en-US" sz="13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5"/>
                          </a:solidFill>
                        </a:rPr>
                        <a:t>лише сторонні сервіси</a:t>
                      </a:r>
                      <a:endParaRPr lang="en-US" sz="13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4"/>
                          </a:solidFill>
                        </a:rPr>
                        <a:t>через власні інтеграції</a:t>
                      </a:r>
                      <a:endParaRPr lang="en-US" sz="13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Правила бізнесу: передоплата, штраф, виняток</a:t>
                      </a:r>
                      <a:endParaRPr lang="en-US" sz="13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3"/>
                          </a:solidFill>
                        </a:rPr>
                        <a:t>так, у кожного свої</a:t>
                      </a:r>
                      <a:endParaRPr lang="en-US" sz="13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5"/>
                          </a:solidFill>
                        </a:rPr>
                        <a:t>не заявлено</a:t>
                      </a:r>
                      <a:endParaRPr lang="en-US" sz="13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5"/>
                          </a:solidFill>
                        </a:rPr>
                        <a:t>ні</a:t>
                      </a:r>
                      <a:endParaRPr lang="en-US" sz="13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4"/>
                          </a:solidFill>
                        </a:rPr>
                        <a:t>треба налаштовувати</a:t>
                      </a:r>
                      <a:endParaRPr lang="en-US" sz="13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Ризикові дії — з погодженням людини</a:t>
                      </a:r>
                      <a:endParaRPr lang="en-US" sz="13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3"/>
                          </a:solidFill>
                        </a:rPr>
                        <a:t>так, налаштовує власник</a:t>
                      </a:r>
                      <a:endParaRPr lang="en-US" sz="13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5"/>
                          </a:solidFill>
                        </a:rPr>
                        <a:t>не заявлено</a:t>
                      </a:r>
                      <a:endParaRPr lang="en-US" sz="13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5"/>
                          </a:solidFill>
                        </a:rPr>
                        <a:t>ні</a:t>
                      </a:r>
                      <a:endParaRPr lang="en-US" sz="13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4"/>
                          </a:solidFill>
                        </a:rPr>
                        <a:t>частково</a:t>
                      </a:r>
                      <a:endParaRPr lang="en-US" sz="13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Для салонів і клінік з коробки</a:t>
                      </a:r>
                      <a:endParaRPr lang="en-US" sz="13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3"/>
                          </a:solidFill>
                        </a:rPr>
                        <a:t>так</a:t>
                      </a:r>
                      <a:endParaRPr lang="en-US" sz="13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3"/>
                          </a:solidFill>
                        </a:rPr>
                        <a:t>салони й спа</a:t>
                      </a:r>
                      <a:endParaRPr lang="en-US" sz="13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5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5"/>
                          </a:solidFill>
                        </a:rPr>
                        <a:t>ні, загальний helpdesk</a:t>
                      </a:r>
                      <a:endParaRPr lang="en-US" sz="13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Ціна AI</a:t>
                      </a:r>
                      <a:endParaRPr lang="en-US" sz="13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3"/>
                          </a:solidFill>
                        </a:rPr>
                        <a:t>за підпискою</a:t>
                      </a:r>
                      <a:endParaRPr lang="en-US" sz="13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4"/>
                          </a:solidFill>
                        </a:rPr>
                        <a:t>$99,95 / міс за локацію</a:t>
                      </a:r>
                      <a:endParaRPr lang="en-US" sz="13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5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4"/>
                          </a:solidFill>
                        </a:rPr>
                        <a:t>$0,99–2 за рішення + місця</a:t>
                      </a:r>
                      <a:endParaRPr lang="en-US" sz="1300" dirty="0"/>
                    </a:p>
                  </a:txBody>
                  <a:tcPr marL="73152" marR="73152" marT="0" marB="0" anchor="ctr">
                    <a:lnL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market sources"/>
          <p:cNvSpPr txBox="1"/>
          <p:nvPr/>
        </p:nvSpPr>
        <p:spPr>
          <a:xfrm>
            <a:off x="548640" y="5989320"/>
            <a:ext cx="104543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Джерела: SchedulingKit і Square (неявки, оцінки вендорів), сайт Fresha та огляди 2026, огляди цін Intercom і Zendesk 2026. «Не заявлено» — у відкритих описах продукту такої функції немає.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Як агент приймає рішення</a:t>
            </a:r>
            <a:endParaRPr lang="en-US" sz="3200" dirty="0"/>
          </a:p>
        </p:txBody>
      </p:sp>
      <p:sp>
        <p:nvSpPr>
          <p:cNvPr id="3" name="flow 1 card"/>
          <p:cNvSpPr/>
          <p:nvPr/>
        </p:nvSpPr>
        <p:spPr>
          <a:xfrm>
            <a:off x="548640" y="1554480"/>
            <a:ext cx="1965960" cy="2651760"/>
          </a:xfrm>
          <a:prstGeom prst="roundRect">
            <a:avLst>
              <a:gd name="adj" fmla="val 5581"/>
            </a:avLst>
          </a:prstGeom>
          <a:solidFill>
            <a:schemeClr val="bg1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16163A">
                <a:alpha val="12000"/>
              </a:srgbClr>
            </a:outerShdw>
          </a:effectLst>
        </p:spPr>
      </p:sp>
      <p:sp>
        <p:nvSpPr>
          <p:cNvPr id="4" name="flow 1 icon bg"/>
          <p:cNvSpPr/>
          <p:nvPr/>
        </p:nvSpPr>
        <p:spPr>
          <a:xfrm>
            <a:off x="822960" y="1828800"/>
            <a:ext cx="566928" cy="566928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5" name="flow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1956816"/>
            <a:ext cx="310896" cy="310896"/>
          </a:xfrm>
          <a:prstGeom prst="rect">
            <a:avLst/>
          </a:prstGeom>
        </p:spPr>
      </p:pic>
      <p:sp>
        <p:nvSpPr>
          <p:cNvPr id="6" name="flow 1 head"/>
          <p:cNvSpPr txBox="1"/>
          <p:nvPr/>
        </p:nvSpPr>
        <p:spPr>
          <a:xfrm>
            <a:off x="822960" y="2578608"/>
            <a:ext cx="1417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Клієнт пише</a:t>
            </a:r>
            <a:endParaRPr lang="en-US" sz="1400" dirty="0"/>
          </a:p>
        </p:txBody>
      </p:sp>
      <p:sp>
        <p:nvSpPr>
          <p:cNvPr id="7" name="flow 1 text"/>
          <p:cNvSpPr txBox="1"/>
          <p:nvPr/>
        </p:nvSpPr>
        <p:spPr>
          <a:xfrm>
            <a:off x="822960" y="3264408"/>
            <a:ext cx="14173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Чат на сайті, віджет або дзвінок</a:t>
            </a:r>
            <a:endParaRPr lang="en-US" sz="1300" dirty="0"/>
          </a:p>
        </p:txBody>
      </p:sp>
      <p:sp>
        <p:nvSpPr>
          <p:cNvPr id="8" name="flow arrow 1"/>
          <p:cNvSpPr txBox="1"/>
          <p:nvPr/>
        </p:nvSpPr>
        <p:spPr>
          <a:xfrm>
            <a:off x="2514600" y="2651760"/>
            <a:ext cx="3161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→</a:t>
            </a:r>
            <a:endParaRPr lang="en-US" sz="2000" dirty="0"/>
          </a:p>
        </p:txBody>
      </p:sp>
      <p:sp>
        <p:nvSpPr>
          <p:cNvPr id="9" name="flow 2 card"/>
          <p:cNvSpPr/>
          <p:nvPr/>
        </p:nvSpPr>
        <p:spPr>
          <a:xfrm>
            <a:off x="2830754" y="1554480"/>
            <a:ext cx="1965960" cy="2651760"/>
          </a:xfrm>
          <a:prstGeom prst="roundRect">
            <a:avLst>
              <a:gd name="adj" fmla="val 5581"/>
            </a:avLst>
          </a:prstGeom>
          <a:solidFill>
            <a:schemeClr val="bg1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16163A">
                <a:alpha val="12000"/>
              </a:srgbClr>
            </a:outerShdw>
          </a:effectLst>
        </p:spPr>
      </p:sp>
      <p:sp>
        <p:nvSpPr>
          <p:cNvPr id="10" name="flow 2 icon bg"/>
          <p:cNvSpPr/>
          <p:nvPr/>
        </p:nvSpPr>
        <p:spPr>
          <a:xfrm>
            <a:off x="3105074" y="1828800"/>
            <a:ext cx="566928" cy="566928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11" name="flow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3090" y="1956816"/>
            <a:ext cx="310896" cy="310896"/>
          </a:xfrm>
          <a:prstGeom prst="rect">
            <a:avLst/>
          </a:prstGeom>
        </p:spPr>
      </p:pic>
      <p:sp>
        <p:nvSpPr>
          <p:cNvPr id="12" name="flow 2 head"/>
          <p:cNvSpPr txBox="1"/>
          <p:nvPr/>
        </p:nvSpPr>
        <p:spPr>
          <a:xfrm>
            <a:off x="3105074" y="2578608"/>
            <a:ext cx="1417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Оркестратор</a:t>
            </a:r>
            <a:endParaRPr lang="en-US" sz="1400" dirty="0"/>
          </a:p>
        </p:txBody>
      </p:sp>
      <p:sp>
        <p:nvSpPr>
          <p:cNvPr id="13" name="flow 2 text"/>
          <p:cNvSpPr txBox="1"/>
          <p:nvPr/>
        </p:nvSpPr>
        <p:spPr>
          <a:xfrm>
            <a:off x="3105074" y="3264408"/>
            <a:ext cx="14173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Claude Sonnet: намір, емоція, терміновість, маршрут</a:t>
            </a:r>
            <a:endParaRPr lang="en-US" sz="1300" dirty="0"/>
          </a:p>
        </p:txBody>
      </p:sp>
      <p:sp>
        <p:nvSpPr>
          <p:cNvPr id="14" name="flow arrow 2"/>
          <p:cNvSpPr txBox="1"/>
          <p:nvPr/>
        </p:nvSpPr>
        <p:spPr>
          <a:xfrm>
            <a:off x="4796714" y="2651760"/>
            <a:ext cx="3161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→</a:t>
            </a:r>
            <a:endParaRPr lang="en-US" sz="2000" dirty="0"/>
          </a:p>
        </p:txBody>
      </p:sp>
      <p:sp>
        <p:nvSpPr>
          <p:cNvPr id="15" name="flow 3 card"/>
          <p:cNvSpPr/>
          <p:nvPr/>
        </p:nvSpPr>
        <p:spPr>
          <a:xfrm>
            <a:off x="5112868" y="1554480"/>
            <a:ext cx="1965960" cy="2651760"/>
          </a:xfrm>
          <a:prstGeom prst="roundRect">
            <a:avLst>
              <a:gd name="adj" fmla="val 5581"/>
            </a:avLst>
          </a:prstGeom>
          <a:solidFill>
            <a:schemeClr val="bg1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16163A">
                <a:alpha val="12000"/>
              </a:srgbClr>
            </a:outerShdw>
          </a:effectLst>
        </p:spPr>
      </p:sp>
      <p:sp>
        <p:nvSpPr>
          <p:cNvPr id="16" name="flow 3 icon bg"/>
          <p:cNvSpPr/>
          <p:nvPr/>
        </p:nvSpPr>
        <p:spPr>
          <a:xfrm>
            <a:off x="5387188" y="1828800"/>
            <a:ext cx="566928" cy="566928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17" name="flow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5204" y="1956816"/>
            <a:ext cx="310896" cy="310896"/>
          </a:xfrm>
          <a:prstGeom prst="rect">
            <a:avLst/>
          </a:prstGeom>
        </p:spPr>
      </p:pic>
      <p:sp>
        <p:nvSpPr>
          <p:cNvPr id="18" name="flow 3 head"/>
          <p:cNvSpPr txBox="1"/>
          <p:nvPr/>
        </p:nvSpPr>
        <p:spPr>
          <a:xfrm>
            <a:off x="5387188" y="2578608"/>
            <a:ext cx="1417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Агент-виконавець</a:t>
            </a:r>
            <a:endParaRPr lang="en-US" sz="1400" dirty="0"/>
          </a:p>
        </p:txBody>
      </p:sp>
      <p:sp>
        <p:nvSpPr>
          <p:cNvPr id="19" name="flow 3 text"/>
          <p:cNvSpPr txBox="1"/>
          <p:nvPr/>
        </p:nvSpPr>
        <p:spPr>
          <a:xfrm>
            <a:off x="5387188" y="3264408"/>
            <a:ext cx="14173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Читає профіль і правила, викликає інструменти</a:t>
            </a:r>
            <a:endParaRPr lang="en-US" sz="1300" dirty="0"/>
          </a:p>
        </p:txBody>
      </p:sp>
      <p:sp>
        <p:nvSpPr>
          <p:cNvPr id="20" name="flow arrow 3"/>
          <p:cNvSpPr txBox="1"/>
          <p:nvPr/>
        </p:nvSpPr>
        <p:spPr>
          <a:xfrm>
            <a:off x="7078828" y="2651760"/>
            <a:ext cx="3161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→</a:t>
            </a:r>
            <a:endParaRPr lang="en-US" sz="2000" dirty="0"/>
          </a:p>
        </p:txBody>
      </p:sp>
      <p:sp>
        <p:nvSpPr>
          <p:cNvPr id="21" name="flow 4 card"/>
          <p:cNvSpPr/>
          <p:nvPr/>
        </p:nvSpPr>
        <p:spPr>
          <a:xfrm>
            <a:off x="7394981" y="1554480"/>
            <a:ext cx="1965960" cy="2651760"/>
          </a:xfrm>
          <a:prstGeom prst="roundRect">
            <a:avLst>
              <a:gd name="adj" fmla="val 5581"/>
            </a:avLst>
          </a:prstGeom>
          <a:solidFill>
            <a:schemeClr val="bg1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16163A">
                <a:alpha val="12000"/>
              </a:srgbClr>
            </a:outerShdw>
          </a:effectLst>
        </p:spPr>
      </p:sp>
      <p:sp>
        <p:nvSpPr>
          <p:cNvPr id="22" name="flow 4 icon bg"/>
          <p:cNvSpPr/>
          <p:nvPr/>
        </p:nvSpPr>
        <p:spPr>
          <a:xfrm>
            <a:off x="7669301" y="1828800"/>
            <a:ext cx="566928" cy="566928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23" name="flow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97317" y="1956816"/>
            <a:ext cx="310896" cy="310896"/>
          </a:xfrm>
          <a:prstGeom prst="rect">
            <a:avLst/>
          </a:prstGeom>
        </p:spPr>
      </p:pic>
      <p:sp>
        <p:nvSpPr>
          <p:cNvPr id="24" name="flow 4 head"/>
          <p:cNvSpPr txBox="1"/>
          <p:nvPr/>
        </p:nvSpPr>
        <p:spPr>
          <a:xfrm>
            <a:off x="7669301" y="2578608"/>
            <a:ext cx="1417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Permission engine</a:t>
            </a:r>
            <a:endParaRPr lang="en-US" sz="1400" dirty="0"/>
          </a:p>
        </p:txBody>
      </p:sp>
      <p:sp>
        <p:nvSpPr>
          <p:cNvPr id="25" name="flow 4 text"/>
          <p:cNvSpPr txBox="1"/>
          <p:nvPr/>
        </p:nvSpPr>
        <p:spPr>
          <a:xfrm>
            <a:off x="7669301" y="3264408"/>
            <a:ext cx="14173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Сам · з погодженням · заборонено</a:t>
            </a:r>
            <a:endParaRPr lang="en-US" sz="1300" dirty="0"/>
          </a:p>
        </p:txBody>
      </p:sp>
      <p:sp>
        <p:nvSpPr>
          <p:cNvPr id="26" name="flow arrow 4"/>
          <p:cNvSpPr txBox="1"/>
          <p:nvPr/>
        </p:nvSpPr>
        <p:spPr>
          <a:xfrm>
            <a:off x="9360941" y="2651760"/>
            <a:ext cx="3161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→</a:t>
            </a:r>
            <a:endParaRPr lang="en-US" sz="2000" dirty="0"/>
          </a:p>
        </p:txBody>
      </p:sp>
      <p:sp>
        <p:nvSpPr>
          <p:cNvPr id="27" name="flow 5 card"/>
          <p:cNvSpPr/>
          <p:nvPr/>
        </p:nvSpPr>
        <p:spPr>
          <a:xfrm>
            <a:off x="9677095" y="1554480"/>
            <a:ext cx="1965960" cy="2651760"/>
          </a:xfrm>
          <a:prstGeom prst="roundRect">
            <a:avLst>
              <a:gd name="adj" fmla="val 5581"/>
            </a:avLst>
          </a:prstGeom>
          <a:solidFill>
            <a:schemeClr val="bg1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16163A">
                <a:alpha val="12000"/>
              </a:srgbClr>
            </a:outerShdw>
          </a:effectLst>
        </p:spPr>
      </p:sp>
      <p:sp>
        <p:nvSpPr>
          <p:cNvPr id="28" name="flow 5 icon bg"/>
          <p:cNvSpPr/>
          <p:nvPr/>
        </p:nvSpPr>
        <p:spPr>
          <a:xfrm>
            <a:off x="9951415" y="1828800"/>
            <a:ext cx="566928" cy="566928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29" name="flow 5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79431" y="1956816"/>
            <a:ext cx="310896" cy="310896"/>
          </a:xfrm>
          <a:prstGeom prst="rect">
            <a:avLst/>
          </a:prstGeom>
        </p:spPr>
      </p:pic>
      <p:sp>
        <p:nvSpPr>
          <p:cNvPr id="30" name="flow 5 head"/>
          <p:cNvSpPr txBox="1"/>
          <p:nvPr/>
        </p:nvSpPr>
        <p:spPr>
          <a:xfrm>
            <a:off x="9951415" y="2578608"/>
            <a:ext cx="1417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Платформа</a:t>
            </a:r>
            <a:endParaRPr lang="en-US" sz="1400" dirty="0"/>
          </a:p>
        </p:txBody>
      </p:sp>
      <p:sp>
        <p:nvSpPr>
          <p:cNvPr id="31" name="flow 5 text"/>
          <p:cNvSpPr txBox="1"/>
          <p:nvPr/>
        </p:nvSpPr>
        <p:spPr>
          <a:xfrm>
            <a:off x="9951415" y="3264408"/>
            <a:ext cx="14173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API / MCP: зміни в реальних даних</a:t>
            </a:r>
            <a:endParaRPr lang="en-US" sz="1300" dirty="0"/>
          </a:p>
        </p:txBody>
      </p:sp>
      <p:sp>
        <p:nvSpPr>
          <p:cNvPr id="32" name="routing box"/>
          <p:cNvSpPr/>
          <p:nvPr/>
        </p:nvSpPr>
        <p:spPr>
          <a:xfrm>
            <a:off x="548640" y="4572000"/>
            <a:ext cx="11094415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/>
        </p:spPr>
      </p:sp>
      <p:sp>
        <p:nvSpPr>
          <p:cNvPr id="33" name="routing text"/>
          <p:cNvSpPr txBox="1"/>
          <p:nvPr/>
        </p:nvSpPr>
        <p:spPr>
          <a:xfrm>
            <a:off x="822960" y="4572000"/>
            <a:ext cx="1054577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Просте питання </a:t>
            </a:r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(ціна, адреса) → відповідає Gemma 4, без дій.  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Дія із записом </a:t>
            </a:r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→ завжди через агента й permission engine.  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Гнів чи терміновість </a:t>
            </a:r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→ ескалація людині.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Демо 1. Олена: агент сам рятує передоплату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«Дитина захворіла, не встигаю завтра на 10». Пізнє перенесення — за правилами передоплата згорає.</a:t>
            </a:r>
            <a:endParaRPr lang="en-US" sz="1600" dirty="0"/>
          </a:p>
        </p:txBody>
      </p:sp>
      <p:pic>
        <p:nvPicPr>
          <p:cNvPr id="4" name="video scene-A.mp4" descr="Кадр з відео scene-A.mp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37360"/>
            <a:ext cx="11094415" cy="3467005"/>
          </a:xfrm>
          <a:prstGeom prst="rect">
            <a:avLst/>
          </a:prstGeom>
        </p:spPr>
      </p:pic>
      <p:sp>
        <p:nvSpPr>
          <p:cNvPr id="5" name="insert video badge"/>
          <p:cNvSpPr/>
          <p:nvPr/>
        </p:nvSpPr>
        <p:spPr>
          <a:xfrm>
            <a:off x="4632808" y="3196542"/>
            <a:ext cx="2926080" cy="548640"/>
          </a:xfrm>
          <a:prstGeom prst="roundRect">
            <a:avLst>
              <a:gd name="adj" fmla="val 50000"/>
            </a:avLst>
          </a:prstGeom>
          <a:solidFill>
            <a:schemeClr val="tx1">
              <a:alpha val="85000"/>
            </a:schemeClr>
          </a:solidFill>
          <a:ln/>
        </p:spPr>
      </p:sp>
      <p:sp>
        <p:nvSpPr>
          <p:cNvPr id="6" name="insert video label"/>
          <p:cNvSpPr txBox="1"/>
          <p:nvPr/>
        </p:nvSpPr>
        <p:spPr>
          <a:xfrm>
            <a:off x="4632808" y="3196542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▶  вставити scene-A.mp4</a:t>
            </a:r>
            <a:endParaRPr lang="en-US" sz="1400" dirty="0"/>
          </a:p>
        </p:txBody>
      </p:sp>
      <p:sp>
        <p:nvSpPr>
          <p:cNvPr id="7" name="video label 0"/>
          <p:cNvSpPr txBox="1"/>
          <p:nvPr/>
        </p:nvSpPr>
        <p:spPr>
          <a:xfrm>
            <a:off x="548640" y="1444752"/>
            <a:ext cx="5547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Клієнт на сайті Bookly</a:t>
            </a:r>
            <a:endParaRPr lang="en-US" sz="1200" dirty="0"/>
          </a:p>
        </p:txBody>
      </p:sp>
      <p:sp>
        <p:nvSpPr>
          <p:cNvPr id="8" name="video label 1"/>
          <p:cNvSpPr txBox="1"/>
          <p:nvPr/>
        </p:nvSpPr>
        <p:spPr>
          <a:xfrm>
            <a:off x="6095848" y="1444752"/>
            <a:ext cx="5547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Чат і copilot адміністратора</a:t>
            </a:r>
            <a:endParaRPr lang="en-US" sz="1200" dirty="0"/>
          </a:p>
        </p:txBody>
      </p:sp>
      <p:sp>
        <p:nvSpPr>
          <p:cNvPr id="9" name="step 1"/>
          <p:cNvSpPr/>
          <p:nvPr/>
        </p:nvSpPr>
        <p:spPr>
          <a:xfrm>
            <a:off x="548640" y="5303520"/>
            <a:ext cx="3515258" cy="1005840"/>
          </a:xfrm>
          <a:prstGeom prst="roundRect">
            <a:avLst>
              <a:gd name="adj" fmla="val 9091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16163A">
                <a:alpha val="12000"/>
              </a:srgbClr>
            </a:outerShdw>
          </a:effectLst>
        </p:spPr>
      </p:sp>
      <p:sp>
        <p:nvSpPr>
          <p:cNvPr id="10" name="step 1 dot"/>
          <p:cNvSpPr/>
          <p:nvPr/>
        </p:nvSpPr>
        <p:spPr>
          <a:xfrm>
            <a:off x="749808" y="5504688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step 1 number"/>
          <p:cNvSpPr txBox="1"/>
          <p:nvPr/>
        </p:nvSpPr>
        <p:spPr>
          <a:xfrm>
            <a:off x="749808" y="5504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2" name="step 1 head"/>
          <p:cNvSpPr txBox="1"/>
          <p:nvPr/>
        </p:nvSpPr>
        <p:spPr>
          <a:xfrm>
            <a:off x="1234440" y="5468112"/>
            <a:ext cx="26465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Контекст</a:t>
            </a:r>
            <a:endParaRPr lang="en-US" sz="1500" dirty="0"/>
          </a:p>
        </p:txBody>
      </p:sp>
      <p:sp>
        <p:nvSpPr>
          <p:cNvPr id="13" name="step 1 text"/>
          <p:cNvSpPr txBox="1"/>
          <p:nvPr/>
        </p:nvSpPr>
        <p:spPr>
          <a:xfrm>
            <a:off x="1234440" y="5870448"/>
            <a:ext cx="26465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12 візитів, 0 неявок, винятків ще не було</a:t>
            </a:r>
            <a:endParaRPr lang="en-US" sz="1200" dirty="0"/>
          </a:p>
        </p:txBody>
      </p:sp>
      <p:sp>
        <p:nvSpPr>
          <p:cNvPr id="14" name="step 2"/>
          <p:cNvSpPr/>
          <p:nvPr/>
        </p:nvSpPr>
        <p:spPr>
          <a:xfrm>
            <a:off x="4338218" y="5303520"/>
            <a:ext cx="3515258" cy="1005840"/>
          </a:xfrm>
          <a:prstGeom prst="roundRect">
            <a:avLst>
              <a:gd name="adj" fmla="val 9091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16163A">
                <a:alpha val="12000"/>
              </a:srgbClr>
            </a:outerShdw>
          </a:effectLst>
        </p:spPr>
      </p:sp>
      <p:sp>
        <p:nvSpPr>
          <p:cNvPr id="15" name="step 2 dot"/>
          <p:cNvSpPr/>
          <p:nvPr/>
        </p:nvSpPr>
        <p:spPr>
          <a:xfrm>
            <a:off x="4539386" y="5504688"/>
            <a:ext cx="365760" cy="365760"/>
          </a:xfrm>
          <a:prstGeom prst="ellipse">
            <a:avLst/>
          </a:prstGeom>
          <a:solidFill>
            <a:srgbClr val="12B886"/>
          </a:solidFill>
          <a:ln/>
        </p:spPr>
      </p:sp>
      <p:sp>
        <p:nvSpPr>
          <p:cNvPr id="16" name="step 2 number"/>
          <p:cNvSpPr txBox="1"/>
          <p:nvPr/>
        </p:nvSpPr>
        <p:spPr>
          <a:xfrm>
            <a:off x="4539386" y="5504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7" name="step 2 head"/>
          <p:cNvSpPr txBox="1"/>
          <p:nvPr/>
        </p:nvSpPr>
        <p:spPr>
          <a:xfrm>
            <a:off x="5024018" y="5468112"/>
            <a:ext cx="26465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Рішення сам</a:t>
            </a:r>
            <a:endParaRPr lang="en-US" sz="1500" dirty="0"/>
          </a:p>
        </p:txBody>
      </p:sp>
      <p:sp>
        <p:nvSpPr>
          <p:cNvPr id="18" name="step 2 text"/>
          <p:cNvSpPr txBox="1"/>
          <p:nvPr/>
        </p:nvSpPr>
        <p:spPr>
          <a:xfrm>
            <a:off x="5024018" y="5870448"/>
            <a:ext cx="26465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Правило салону дозволяє виняток автоматично</a:t>
            </a:r>
            <a:endParaRPr lang="en-US" sz="1200" dirty="0"/>
          </a:p>
        </p:txBody>
      </p:sp>
      <p:sp>
        <p:nvSpPr>
          <p:cNvPr id="19" name="step 3"/>
          <p:cNvSpPr/>
          <p:nvPr/>
        </p:nvSpPr>
        <p:spPr>
          <a:xfrm>
            <a:off x="8127797" y="5303520"/>
            <a:ext cx="3515258" cy="1005840"/>
          </a:xfrm>
          <a:prstGeom prst="roundRect">
            <a:avLst>
              <a:gd name="adj" fmla="val 9091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16163A">
                <a:alpha val="12000"/>
              </a:srgbClr>
            </a:outerShdw>
          </a:effectLst>
        </p:spPr>
      </p:sp>
      <p:sp>
        <p:nvSpPr>
          <p:cNvPr id="20" name="step 3 dot"/>
          <p:cNvSpPr/>
          <p:nvPr/>
        </p:nvSpPr>
        <p:spPr>
          <a:xfrm>
            <a:off x="8328965" y="5504688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1" name="step 3 number"/>
          <p:cNvSpPr txBox="1"/>
          <p:nvPr/>
        </p:nvSpPr>
        <p:spPr>
          <a:xfrm>
            <a:off x="8328965" y="5504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22" name="step 3 head"/>
          <p:cNvSpPr txBox="1"/>
          <p:nvPr/>
        </p:nvSpPr>
        <p:spPr>
          <a:xfrm>
            <a:off x="8813597" y="5468112"/>
            <a:ext cx="26465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Дія</a:t>
            </a:r>
            <a:endParaRPr lang="en-US" sz="1500" dirty="0"/>
          </a:p>
        </p:txBody>
      </p:sp>
      <p:sp>
        <p:nvSpPr>
          <p:cNvPr id="23" name="step 3 text"/>
          <p:cNvSpPr txBox="1"/>
          <p:nvPr/>
        </p:nvSpPr>
        <p:spPr>
          <a:xfrm>
            <a:off x="8813597" y="5870448"/>
            <a:ext cx="26465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Знаходить слоти, переносить, 500 грн збережено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Демо 2. Максим: ризикове рішення — людині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Той самий запит, але в клієнта 2 неявки. Агент не вирішує сам, а просить адміністратора.</a:t>
            </a:r>
            <a:endParaRPr lang="en-US" sz="1600" dirty="0"/>
          </a:p>
        </p:txBody>
      </p:sp>
      <p:pic>
        <p:nvPicPr>
          <p:cNvPr id="4" name="video scene-B.mp4" descr="Кадр з відео scene-B.mp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37360"/>
            <a:ext cx="11094415" cy="3467005"/>
          </a:xfrm>
          <a:prstGeom prst="rect">
            <a:avLst/>
          </a:prstGeom>
        </p:spPr>
      </p:pic>
      <p:sp>
        <p:nvSpPr>
          <p:cNvPr id="5" name="insert video badge"/>
          <p:cNvSpPr/>
          <p:nvPr/>
        </p:nvSpPr>
        <p:spPr>
          <a:xfrm>
            <a:off x="4632808" y="3196542"/>
            <a:ext cx="2926080" cy="548640"/>
          </a:xfrm>
          <a:prstGeom prst="roundRect">
            <a:avLst>
              <a:gd name="adj" fmla="val 50000"/>
            </a:avLst>
          </a:prstGeom>
          <a:solidFill>
            <a:schemeClr val="tx1">
              <a:alpha val="85000"/>
            </a:schemeClr>
          </a:solidFill>
          <a:ln/>
        </p:spPr>
      </p:sp>
      <p:sp>
        <p:nvSpPr>
          <p:cNvPr id="6" name="insert video label"/>
          <p:cNvSpPr txBox="1"/>
          <p:nvPr/>
        </p:nvSpPr>
        <p:spPr>
          <a:xfrm>
            <a:off x="4632808" y="3196542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▶  вставити scene-B.mp4</a:t>
            </a:r>
            <a:endParaRPr lang="en-US" sz="1400" dirty="0"/>
          </a:p>
        </p:txBody>
      </p:sp>
      <p:sp>
        <p:nvSpPr>
          <p:cNvPr id="7" name="video label 0"/>
          <p:cNvSpPr txBox="1"/>
          <p:nvPr/>
        </p:nvSpPr>
        <p:spPr>
          <a:xfrm>
            <a:off x="548640" y="1444752"/>
            <a:ext cx="5547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Клієнт на сайті Bookly</a:t>
            </a:r>
            <a:endParaRPr lang="en-US" sz="1200" dirty="0"/>
          </a:p>
        </p:txBody>
      </p:sp>
      <p:sp>
        <p:nvSpPr>
          <p:cNvPr id="8" name="video label 1"/>
          <p:cNvSpPr txBox="1"/>
          <p:nvPr/>
        </p:nvSpPr>
        <p:spPr>
          <a:xfrm>
            <a:off x="6095848" y="1444752"/>
            <a:ext cx="5547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Чат і copilot адміністратора</a:t>
            </a:r>
            <a:endParaRPr lang="en-US" sz="1200" dirty="0"/>
          </a:p>
        </p:txBody>
      </p:sp>
      <p:sp>
        <p:nvSpPr>
          <p:cNvPr id="9" name="step 1"/>
          <p:cNvSpPr/>
          <p:nvPr/>
        </p:nvSpPr>
        <p:spPr>
          <a:xfrm>
            <a:off x="548640" y="5303520"/>
            <a:ext cx="3515258" cy="1005840"/>
          </a:xfrm>
          <a:prstGeom prst="roundRect">
            <a:avLst>
              <a:gd name="adj" fmla="val 9091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16163A">
                <a:alpha val="12000"/>
              </a:srgbClr>
            </a:outerShdw>
          </a:effectLst>
        </p:spPr>
      </p:sp>
      <p:sp>
        <p:nvSpPr>
          <p:cNvPr id="10" name="step 1 dot"/>
          <p:cNvSpPr/>
          <p:nvPr/>
        </p:nvSpPr>
        <p:spPr>
          <a:xfrm>
            <a:off x="749808" y="5504688"/>
            <a:ext cx="365760" cy="365760"/>
          </a:xfrm>
          <a:prstGeom prst="ellipse">
            <a:avLst/>
          </a:prstGeom>
          <a:solidFill>
            <a:srgbClr val="F59F00"/>
          </a:solidFill>
          <a:ln/>
        </p:spPr>
      </p:sp>
      <p:sp>
        <p:nvSpPr>
          <p:cNvPr id="11" name="step 1 number"/>
          <p:cNvSpPr txBox="1"/>
          <p:nvPr/>
        </p:nvSpPr>
        <p:spPr>
          <a:xfrm>
            <a:off x="749808" y="5504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2" name="step 1 head"/>
          <p:cNvSpPr txBox="1"/>
          <p:nvPr/>
        </p:nvSpPr>
        <p:spPr>
          <a:xfrm>
            <a:off x="1234440" y="5468112"/>
            <a:ext cx="26465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Контекст</a:t>
            </a:r>
            <a:endParaRPr lang="en-US" sz="1500" dirty="0"/>
          </a:p>
        </p:txBody>
      </p:sp>
      <p:sp>
        <p:nvSpPr>
          <p:cNvPr id="13" name="step 1 text"/>
          <p:cNvSpPr txBox="1"/>
          <p:nvPr/>
        </p:nvSpPr>
        <p:spPr>
          <a:xfrm>
            <a:off x="1234440" y="5870448"/>
            <a:ext cx="26465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2 неявки — автоматичний виняток не дозволено</a:t>
            </a:r>
            <a:endParaRPr lang="en-US" sz="1200" dirty="0"/>
          </a:p>
        </p:txBody>
      </p:sp>
      <p:sp>
        <p:nvSpPr>
          <p:cNvPr id="14" name="step 2"/>
          <p:cNvSpPr/>
          <p:nvPr/>
        </p:nvSpPr>
        <p:spPr>
          <a:xfrm>
            <a:off x="4338218" y="5303520"/>
            <a:ext cx="3515258" cy="1005840"/>
          </a:xfrm>
          <a:prstGeom prst="roundRect">
            <a:avLst>
              <a:gd name="adj" fmla="val 9091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16163A">
                <a:alpha val="12000"/>
              </a:srgbClr>
            </a:outerShdw>
          </a:effectLst>
        </p:spPr>
      </p:sp>
      <p:sp>
        <p:nvSpPr>
          <p:cNvPr id="15" name="step 2 dot"/>
          <p:cNvSpPr/>
          <p:nvPr/>
        </p:nvSpPr>
        <p:spPr>
          <a:xfrm>
            <a:off x="4539386" y="5504688"/>
            <a:ext cx="365760" cy="365760"/>
          </a:xfrm>
          <a:prstGeom prst="ellipse">
            <a:avLst/>
          </a:prstGeom>
          <a:solidFill>
            <a:srgbClr val="F59F00"/>
          </a:solidFill>
          <a:ln/>
        </p:spPr>
      </p:sp>
      <p:sp>
        <p:nvSpPr>
          <p:cNvPr id="16" name="step 2 number"/>
          <p:cNvSpPr txBox="1"/>
          <p:nvPr/>
        </p:nvSpPr>
        <p:spPr>
          <a:xfrm>
            <a:off x="4539386" y="5504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7" name="step 2 head"/>
          <p:cNvSpPr txBox="1"/>
          <p:nvPr/>
        </p:nvSpPr>
        <p:spPr>
          <a:xfrm>
            <a:off x="5024018" y="5468112"/>
            <a:ext cx="26465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Погодження</a:t>
            </a:r>
            <a:endParaRPr lang="en-US" sz="1500" dirty="0"/>
          </a:p>
        </p:txBody>
      </p:sp>
      <p:sp>
        <p:nvSpPr>
          <p:cNvPr id="18" name="step 2 text"/>
          <p:cNvSpPr txBox="1"/>
          <p:nvPr/>
        </p:nvSpPr>
        <p:spPr>
          <a:xfrm>
            <a:off x="5024018" y="5870448"/>
            <a:ext cx="26465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Адміністратор схвалює в copilot одним кліком</a:t>
            </a:r>
            <a:endParaRPr lang="en-US" sz="1200" dirty="0"/>
          </a:p>
        </p:txBody>
      </p:sp>
      <p:sp>
        <p:nvSpPr>
          <p:cNvPr id="19" name="step 3"/>
          <p:cNvSpPr/>
          <p:nvPr/>
        </p:nvSpPr>
        <p:spPr>
          <a:xfrm>
            <a:off x="8127797" y="5303520"/>
            <a:ext cx="3515258" cy="1005840"/>
          </a:xfrm>
          <a:prstGeom prst="roundRect">
            <a:avLst>
              <a:gd name="adj" fmla="val 9091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16163A">
                <a:alpha val="12000"/>
              </a:srgbClr>
            </a:outerShdw>
          </a:effectLst>
        </p:spPr>
      </p:sp>
      <p:sp>
        <p:nvSpPr>
          <p:cNvPr id="20" name="step 3 dot"/>
          <p:cNvSpPr/>
          <p:nvPr/>
        </p:nvSpPr>
        <p:spPr>
          <a:xfrm>
            <a:off x="8328965" y="5504688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1" name="step 3 number"/>
          <p:cNvSpPr txBox="1"/>
          <p:nvPr/>
        </p:nvSpPr>
        <p:spPr>
          <a:xfrm>
            <a:off x="8328965" y="5504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22" name="step 3 head"/>
          <p:cNvSpPr txBox="1"/>
          <p:nvPr/>
        </p:nvSpPr>
        <p:spPr>
          <a:xfrm>
            <a:off x="8813597" y="5468112"/>
            <a:ext cx="26465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Дія</a:t>
            </a:r>
            <a:endParaRPr lang="en-US" sz="1500" dirty="0"/>
          </a:p>
        </p:txBody>
      </p:sp>
      <p:sp>
        <p:nvSpPr>
          <p:cNvPr id="23" name="step 3 text"/>
          <p:cNvSpPr txBox="1"/>
          <p:nvPr/>
        </p:nvSpPr>
        <p:spPr>
          <a:xfrm>
            <a:off x="8813597" y="5870448"/>
            <a:ext cx="26465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Агент сам повертається до клієнта й переносить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Демо 3. Петро в клініці: суворі правила, дві дії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«Хочу скасувати запис і повернути гроші». У клініці правила суворіші: усе через погодження.</a:t>
            </a:r>
            <a:endParaRPr lang="en-US" sz="1600" dirty="0"/>
          </a:p>
        </p:txBody>
      </p:sp>
      <p:pic>
        <p:nvPicPr>
          <p:cNvPr id="4" name="video scene-C.mp4" descr="Кадр з відео scene-C.mp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37360"/>
            <a:ext cx="11094415" cy="3467005"/>
          </a:xfrm>
          <a:prstGeom prst="rect">
            <a:avLst/>
          </a:prstGeom>
        </p:spPr>
      </p:pic>
      <p:sp>
        <p:nvSpPr>
          <p:cNvPr id="5" name="insert video badge"/>
          <p:cNvSpPr/>
          <p:nvPr/>
        </p:nvSpPr>
        <p:spPr>
          <a:xfrm>
            <a:off x="4632808" y="3196542"/>
            <a:ext cx="2926080" cy="548640"/>
          </a:xfrm>
          <a:prstGeom prst="roundRect">
            <a:avLst>
              <a:gd name="adj" fmla="val 50000"/>
            </a:avLst>
          </a:prstGeom>
          <a:solidFill>
            <a:schemeClr val="tx1">
              <a:alpha val="85000"/>
            </a:schemeClr>
          </a:solidFill>
          <a:ln/>
        </p:spPr>
      </p:sp>
      <p:sp>
        <p:nvSpPr>
          <p:cNvPr id="6" name="insert video label"/>
          <p:cNvSpPr txBox="1"/>
          <p:nvPr/>
        </p:nvSpPr>
        <p:spPr>
          <a:xfrm>
            <a:off x="4632808" y="3196542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▶  вставити scene-C.mp4</a:t>
            </a:r>
            <a:endParaRPr lang="en-US" sz="1400" dirty="0"/>
          </a:p>
        </p:txBody>
      </p:sp>
      <p:sp>
        <p:nvSpPr>
          <p:cNvPr id="7" name="video label 0"/>
          <p:cNvSpPr txBox="1"/>
          <p:nvPr/>
        </p:nvSpPr>
        <p:spPr>
          <a:xfrm>
            <a:off x="548640" y="1444752"/>
            <a:ext cx="5547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Клієнт на сайті Bookly</a:t>
            </a:r>
            <a:endParaRPr lang="en-US" sz="1200" dirty="0"/>
          </a:p>
        </p:txBody>
      </p:sp>
      <p:sp>
        <p:nvSpPr>
          <p:cNvPr id="8" name="video label 1"/>
          <p:cNvSpPr txBox="1"/>
          <p:nvPr/>
        </p:nvSpPr>
        <p:spPr>
          <a:xfrm>
            <a:off x="6095848" y="1444752"/>
            <a:ext cx="5547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Чат і copilot адміністратора</a:t>
            </a:r>
            <a:endParaRPr lang="en-US" sz="1200" dirty="0"/>
          </a:p>
        </p:txBody>
      </p:sp>
      <p:sp>
        <p:nvSpPr>
          <p:cNvPr id="9" name="step 1"/>
          <p:cNvSpPr/>
          <p:nvPr/>
        </p:nvSpPr>
        <p:spPr>
          <a:xfrm>
            <a:off x="548640" y="5303520"/>
            <a:ext cx="3515258" cy="1005840"/>
          </a:xfrm>
          <a:prstGeom prst="roundRect">
            <a:avLst>
              <a:gd name="adj" fmla="val 9091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16163A">
                <a:alpha val="12000"/>
              </a:srgbClr>
            </a:outerShdw>
          </a:effectLst>
        </p:spPr>
      </p:sp>
      <p:sp>
        <p:nvSpPr>
          <p:cNvPr id="10" name="step 1 dot"/>
          <p:cNvSpPr/>
          <p:nvPr/>
        </p:nvSpPr>
        <p:spPr>
          <a:xfrm>
            <a:off x="749808" y="5504688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step 1 number"/>
          <p:cNvSpPr txBox="1"/>
          <p:nvPr/>
        </p:nvSpPr>
        <p:spPr>
          <a:xfrm>
            <a:off x="749808" y="5504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2" name="step 1 head"/>
          <p:cNvSpPr txBox="1"/>
          <p:nvPr/>
        </p:nvSpPr>
        <p:spPr>
          <a:xfrm>
            <a:off x="1234440" y="5468112"/>
            <a:ext cx="26465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Правила клініки</a:t>
            </a:r>
            <a:endParaRPr lang="en-US" sz="1500" dirty="0"/>
          </a:p>
        </p:txBody>
      </p:sp>
      <p:sp>
        <p:nvSpPr>
          <p:cNvPr id="13" name="step 1 text"/>
          <p:cNvSpPr txBox="1"/>
          <p:nvPr/>
        </p:nvSpPr>
        <p:spPr>
          <a:xfrm>
            <a:off x="1234440" y="5870448"/>
            <a:ext cx="26465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Пізніше 48 год — передоплата 800 грн згорає</a:t>
            </a:r>
            <a:endParaRPr lang="en-US" sz="1200" dirty="0"/>
          </a:p>
        </p:txBody>
      </p:sp>
      <p:sp>
        <p:nvSpPr>
          <p:cNvPr id="14" name="step 2"/>
          <p:cNvSpPr/>
          <p:nvPr/>
        </p:nvSpPr>
        <p:spPr>
          <a:xfrm>
            <a:off x="4338218" y="5303520"/>
            <a:ext cx="3515258" cy="1005840"/>
          </a:xfrm>
          <a:prstGeom prst="roundRect">
            <a:avLst>
              <a:gd name="adj" fmla="val 9091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16163A">
                <a:alpha val="12000"/>
              </a:srgbClr>
            </a:outerShdw>
          </a:effectLst>
        </p:spPr>
      </p:sp>
      <p:sp>
        <p:nvSpPr>
          <p:cNvPr id="15" name="step 2 dot"/>
          <p:cNvSpPr/>
          <p:nvPr/>
        </p:nvSpPr>
        <p:spPr>
          <a:xfrm>
            <a:off x="4539386" y="5504688"/>
            <a:ext cx="365760" cy="365760"/>
          </a:xfrm>
          <a:prstGeom prst="ellipse">
            <a:avLst/>
          </a:prstGeom>
          <a:solidFill>
            <a:srgbClr val="F59F00"/>
          </a:solidFill>
          <a:ln/>
        </p:spPr>
      </p:sp>
      <p:sp>
        <p:nvSpPr>
          <p:cNvPr id="16" name="step 2 number"/>
          <p:cNvSpPr txBox="1"/>
          <p:nvPr/>
        </p:nvSpPr>
        <p:spPr>
          <a:xfrm>
            <a:off x="4539386" y="5504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7" name="step 2 head"/>
          <p:cNvSpPr txBox="1"/>
          <p:nvPr/>
        </p:nvSpPr>
        <p:spPr>
          <a:xfrm>
            <a:off x="5024018" y="5468112"/>
            <a:ext cx="26465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Два погодження</a:t>
            </a:r>
            <a:endParaRPr lang="en-US" sz="1500" dirty="0"/>
          </a:p>
        </p:txBody>
      </p:sp>
      <p:sp>
        <p:nvSpPr>
          <p:cNvPr id="18" name="step 2 text"/>
          <p:cNvSpPr txBox="1"/>
          <p:nvPr/>
        </p:nvSpPr>
        <p:spPr>
          <a:xfrm>
            <a:off x="5024018" y="5870448"/>
            <a:ext cx="26465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Спершу повернення, потім скасування</a:t>
            </a:r>
            <a:endParaRPr lang="en-US" sz="1200" dirty="0"/>
          </a:p>
        </p:txBody>
      </p:sp>
      <p:sp>
        <p:nvSpPr>
          <p:cNvPr id="19" name="step 3"/>
          <p:cNvSpPr/>
          <p:nvPr/>
        </p:nvSpPr>
        <p:spPr>
          <a:xfrm>
            <a:off x="8127797" y="5303520"/>
            <a:ext cx="3515258" cy="1005840"/>
          </a:xfrm>
          <a:prstGeom prst="roundRect">
            <a:avLst>
              <a:gd name="adj" fmla="val 9091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16163A">
                <a:alpha val="12000"/>
              </a:srgbClr>
            </a:outerShdw>
          </a:effectLst>
        </p:spPr>
      </p:sp>
      <p:sp>
        <p:nvSpPr>
          <p:cNvPr id="20" name="step 3 dot"/>
          <p:cNvSpPr/>
          <p:nvPr/>
        </p:nvSpPr>
        <p:spPr>
          <a:xfrm>
            <a:off x="8328965" y="5504688"/>
            <a:ext cx="365760" cy="365760"/>
          </a:xfrm>
          <a:prstGeom prst="ellipse">
            <a:avLst/>
          </a:prstGeom>
          <a:solidFill>
            <a:srgbClr val="12B886"/>
          </a:solidFill>
          <a:ln/>
        </p:spPr>
      </p:sp>
      <p:sp>
        <p:nvSpPr>
          <p:cNvPr id="21" name="step 3 number"/>
          <p:cNvSpPr txBox="1"/>
          <p:nvPr/>
        </p:nvSpPr>
        <p:spPr>
          <a:xfrm>
            <a:off x="8328965" y="5504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22" name="step 3 head"/>
          <p:cNvSpPr txBox="1"/>
          <p:nvPr/>
        </p:nvSpPr>
        <p:spPr>
          <a:xfrm>
            <a:off x="8813597" y="5468112"/>
            <a:ext cx="26465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Результат</a:t>
            </a:r>
            <a:endParaRPr lang="en-US" sz="1500" dirty="0"/>
          </a:p>
        </p:txBody>
      </p:sp>
      <p:sp>
        <p:nvSpPr>
          <p:cNvPr id="23" name="step 3 text"/>
          <p:cNvSpPr txBox="1"/>
          <p:nvPr/>
        </p:nvSpPr>
        <p:spPr>
          <a:xfrm>
            <a:off x="8813597" y="5870448"/>
            <a:ext cx="26465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Запис скасовано, 800 грн повернено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Один агент — різні правила кожного бізнесу</a:t>
            </a:r>
            <a:endParaRPr lang="en-US" sz="3200" dirty="0"/>
          </a:p>
        </p:txBody>
      </p:sp>
      <p:graphicFrame>
        <p:nvGraphicFramePr>
          <p:cNvPr id="9" name="policy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749808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2651760"/>
                <a:gridCol w="219456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Правило</a:t>
                      </a:r>
                      <a:endParaRPr lang="en-US" sz="14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Lumen Beauty (салон)</a:t>
                      </a:r>
                      <a:endParaRPr lang="en-US" sz="14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DentaPlus (клініка)</a:t>
                      </a:r>
                      <a:endParaRPr lang="en-US" sz="14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Безкоштовне скасування</a:t>
                      </a:r>
                      <a:endParaRPr lang="en-US" sz="14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за 24 год</a:t>
                      </a:r>
                      <a:endParaRPr lang="en-US" sz="14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за 48 год</a:t>
                      </a:r>
                      <a:endParaRPr lang="en-US" sz="14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Штраф за неявку</a:t>
                      </a:r>
                      <a:endParaRPr lang="en-US" sz="14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300 грн</a:t>
                      </a:r>
                      <a:endParaRPr lang="en-US" sz="14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500 грн</a:t>
                      </a:r>
                      <a:endParaRPr lang="en-US" sz="14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Перенесення</a:t>
                      </a:r>
                      <a:endParaRPr lang="en-US" sz="14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</a:rPr>
                        <a:t>сам</a:t>
                      </a:r>
                      <a:endParaRPr lang="en-US" sz="14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</a:rPr>
                        <a:t>сам</a:t>
                      </a:r>
                      <a:endParaRPr lang="en-US" sz="14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Скасування</a:t>
                      </a:r>
                      <a:endParaRPr lang="en-US" sz="14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</a:rPr>
                        <a:t>сам</a:t>
                      </a:r>
                      <a:endParaRPr lang="en-US" sz="14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4"/>
                          </a:solidFill>
                        </a:rPr>
                        <a:t>з погодженням</a:t>
                      </a:r>
                      <a:endParaRPr lang="en-US" sz="14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Повернення передоплати</a:t>
                      </a:r>
                      <a:endParaRPr lang="en-US" sz="14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</a:rPr>
                        <a:t>сам до 500 грн</a:t>
                      </a:r>
                      <a:endParaRPr lang="en-US" sz="14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4"/>
                          </a:solidFill>
                        </a:rPr>
                        <a:t>з погодженням</a:t>
                      </a:r>
                      <a:endParaRPr lang="en-US" sz="14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Виняток з доброї волі</a:t>
                      </a:r>
                      <a:endParaRPr lang="en-US" sz="14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</a:rPr>
                        <a:t>сам (1 раз / 180 днів, без неявок)</a:t>
                      </a:r>
                      <a:endParaRPr lang="en-US" sz="14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4"/>
                          </a:solidFill>
                        </a:rPr>
                        <a:t>з погодженням</a:t>
                      </a:r>
                      <a:endParaRPr lang="en-US" sz="14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Зняти штраф за неявку</a:t>
                      </a:r>
                      <a:endParaRPr lang="en-US" sz="14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4"/>
                          </a:solidFill>
                        </a:rPr>
                        <a:t>з погодженням</a:t>
                      </a:r>
                      <a:endParaRPr lang="en-US" sz="14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заборонено</a:t>
                      </a:r>
                      <a:endParaRPr lang="en-US" sz="1400" dirty="0"/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F2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control card"/>
          <p:cNvSpPr/>
          <p:nvPr/>
        </p:nvSpPr>
        <p:spPr>
          <a:xfrm>
            <a:off x="8321040" y="1417320"/>
            <a:ext cx="3322015" cy="3803904"/>
          </a:xfrm>
          <a:prstGeom prst="roundRect">
            <a:avLst>
              <a:gd name="adj" fmla="val 3303"/>
            </a:avLst>
          </a:prstGeom>
          <a:solidFill>
            <a:schemeClr val="bg1"/>
          </a:solidFill>
          <a:ln w="9525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16163A">
                <a:alpha val="12000"/>
              </a:srgbClr>
            </a:outerShdw>
          </a:effectLst>
        </p:spPr>
      </p:sp>
      <p:sp>
        <p:nvSpPr>
          <p:cNvPr id="5" name="control icon bg"/>
          <p:cNvSpPr/>
          <p:nvPr/>
        </p:nvSpPr>
        <p:spPr>
          <a:xfrm>
            <a:off x="8595360" y="1691640"/>
            <a:ext cx="566928" cy="566928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6" name="control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23376" y="1819656"/>
            <a:ext cx="310896" cy="310896"/>
          </a:xfrm>
          <a:prstGeom prst="rect">
            <a:avLst/>
          </a:prstGeom>
        </p:spPr>
      </p:pic>
      <p:sp>
        <p:nvSpPr>
          <p:cNvPr id="7" name="control head"/>
          <p:cNvSpPr txBox="1"/>
          <p:nvPr/>
        </p:nvSpPr>
        <p:spPr>
          <a:xfrm>
            <a:off x="8595360" y="2441448"/>
            <a:ext cx="2773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Власник керує ризиком</a:t>
            </a:r>
            <a:endParaRPr lang="en-US" sz="1800" dirty="0"/>
          </a:p>
        </p:txBody>
      </p:sp>
      <p:sp>
        <p:nvSpPr>
          <p:cNvPr id="8" name="control text"/>
          <p:cNvSpPr txBox="1"/>
          <p:nvPr/>
        </p:nvSpPr>
        <p:spPr>
          <a:xfrm>
            <a:off x="8595360" y="2990088"/>
            <a:ext cx="2773375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Правила й дозволи агента змінюються в адмінці без коду. Агент читає їх на кожному кроці, а платформа перевіряє цілісність даних: вільний слот, сума, стан запису.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Справжній продукт, а не макет</a:t>
            </a:r>
            <a:endParaRPr lang="en-US" sz="3200" dirty="0"/>
          </a:p>
        </p:txBody>
      </p:sp>
      <p:pic>
        <p:nvPicPr>
          <p:cNvPr id="3" name="video product-tour.mp4" descr="Кадр з відео product-tour.mp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6949440" cy="4343400"/>
          </a:xfrm>
          <a:prstGeom prst="rect">
            <a:avLst/>
          </a:prstGeom>
        </p:spPr>
      </p:pic>
      <p:sp>
        <p:nvSpPr>
          <p:cNvPr id="4" name="insert video badge"/>
          <p:cNvSpPr/>
          <p:nvPr/>
        </p:nvSpPr>
        <p:spPr>
          <a:xfrm>
            <a:off x="2560320" y="3314700"/>
            <a:ext cx="2926080" cy="548640"/>
          </a:xfrm>
          <a:prstGeom prst="roundRect">
            <a:avLst>
              <a:gd name="adj" fmla="val 50000"/>
            </a:avLst>
          </a:prstGeom>
          <a:solidFill>
            <a:schemeClr val="tx1">
              <a:alpha val="85000"/>
            </a:schemeClr>
          </a:solidFill>
          <a:ln/>
        </p:spPr>
      </p:sp>
      <p:sp>
        <p:nvSpPr>
          <p:cNvPr id="5" name="insert video label"/>
          <p:cNvSpPr txBox="1"/>
          <p:nvPr/>
        </p:nvSpPr>
        <p:spPr>
          <a:xfrm>
            <a:off x="2560320" y="33147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▶  вставити product-tour.mp4</a:t>
            </a:r>
            <a:endParaRPr lang="en-US" sz="1400" dirty="0"/>
          </a:p>
        </p:txBody>
      </p:sp>
      <p:sp>
        <p:nvSpPr>
          <p:cNvPr id="6" name="tour icon bg 0"/>
          <p:cNvSpPr/>
          <p:nvPr/>
        </p:nvSpPr>
        <p:spPr>
          <a:xfrm>
            <a:off x="7863840" y="1417320"/>
            <a:ext cx="566928" cy="566928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7" name="tour icon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1856" y="1545336"/>
            <a:ext cx="310896" cy="310896"/>
          </a:xfrm>
          <a:prstGeom prst="rect">
            <a:avLst/>
          </a:prstGeom>
        </p:spPr>
      </p:pic>
      <p:sp>
        <p:nvSpPr>
          <p:cNvPr id="8" name="tour head 0"/>
          <p:cNvSpPr txBox="1"/>
          <p:nvPr/>
        </p:nvSpPr>
        <p:spPr>
          <a:xfrm>
            <a:off x="8641080" y="1417320"/>
            <a:ext cx="30019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Сторінка бізнесу і запис</a:t>
            </a:r>
            <a:endParaRPr lang="en-US" sz="1700" dirty="0"/>
          </a:p>
        </p:txBody>
      </p:sp>
      <p:sp>
        <p:nvSpPr>
          <p:cNvPr id="9" name="tour text 0"/>
          <p:cNvSpPr txBox="1"/>
          <p:nvPr/>
        </p:nvSpPr>
        <p:spPr>
          <a:xfrm>
            <a:off x="8641080" y="1801368"/>
            <a:ext cx="3001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Послуги, майстри, правила, вільні слоти, передоплата</a:t>
            </a:r>
            <a:endParaRPr lang="en-US" sz="1400" dirty="0"/>
          </a:p>
        </p:txBody>
      </p:sp>
      <p:sp>
        <p:nvSpPr>
          <p:cNvPr id="10" name="tour icon bg 1"/>
          <p:cNvSpPr/>
          <p:nvPr/>
        </p:nvSpPr>
        <p:spPr>
          <a:xfrm>
            <a:off x="7863840" y="2880360"/>
            <a:ext cx="566928" cy="566928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11" name="tour icon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1856" y="3008376"/>
            <a:ext cx="310896" cy="310896"/>
          </a:xfrm>
          <a:prstGeom prst="rect">
            <a:avLst/>
          </a:prstGeom>
        </p:spPr>
      </p:pic>
      <p:sp>
        <p:nvSpPr>
          <p:cNvPr id="12" name="tour head 1"/>
          <p:cNvSpPr txBox="1"/>
          <p:nvPr/>
        </p:nvSpPr>
        <p:spPr>
          <a:xfrm>
            <a:off x="8641080" y="2880360"/>
            <a:ext cx="30019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Адмінка</a:t>
            </a:r>
            <a:endParaRPr lang="en-US" sz="1700" dirty="0"/>
          </a:p>
        </p:txBody>
      </p:sp>
      <p:sp>
        <p:nvSpPr>
          <p:cNvPr id="13" name="tour text 1"/>
          <p:cNvSpPr txBox="1"/>
          <p:nvPr/>
        </p:nvSpPr>
        <p:spPr>
          <a:xfrm>
            <a:off x="8641080" y="3264408"/>
            <a:ext cx="3001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Тиждень бронювань, дії агента з міткою «AI», клієнти, майстри, послуги</a:t>
            </a:r>
            <a:endParaRPr lang="en-US" sz="1400" dirty="0"/>
          </a:p>
        </p:txBody>
      </p:sp>
      <p:sp>
        <p:nvSpPr>
          <p:cNvPr id="14" name="tour icon bg 2"/>
          <p:cNvSpPr/>
          <p:nvPr/>
        </p:nvSpPr>
        <p:spPr>
          <a:xfrm>
            <a:off x="7863840" y="4343400"/>
            <a:ext cx="566928" cy="566928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15" name="tour icon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91856" y="4471416"/>
            <a:ext cx="310896" cy="310896"/>
          </a:xfrm>
          <a:prstGeom prst="rect">
            <a:avLst/>
          </a:prstGeom>
        </p:spPr>
      </p:pic>
      <p:sp>
        <p:nvSpPr>
          <p:cNvPr id="16" name="tour head 2"/>
          <p:cNvSpPr txBox="1"/>
          <p:nvPr/>
        </p:nvSpPr>
        <p:spPr>
          <a:xfrm>
            <a:off x="8641080" y="4343400"/>
            <a:ext cx="30019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Відкриті інтеграції</a:t>
            </a:r>
            <a:endParaRPr lang="en-US" sz="1700" dirty="0"/>
          </a:p>
        </p:txBody>
      </p:sp>
      <p:sp>
        <p:nvSpPr>
          <p:cNvPr id="17" name="tour text 2"/>
          <p:cNvSpPr txBox="1"/>
          <p:nvPr/>
        </p:nvSpPr>
        <p:spPr>
          <a:xfrm>
            <a:off x="8641080" y="4727448"/>
            <a:ext cx="3001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HTTP API, MCP-сервер для агента, віджет одним рядком коду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011680"/>
            <a:ext cx="8686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Дякуємо!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49040"/>
            <a:ext cx="8686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6"/>
                </a:solidFill>
              </a:rPr>
              <a:t>Далі: інтеграція з календарями й CRM салонів, SMS-нагадування, прогноз неявок і передоплата для ризикових клієнтів</a:t>
            </a:r>
            <a:endParaRPr lang="en-US" sz="2200" dirty="0"/>
          </a:p>
        </p:txBody>
      </p:sp>
      <p:sp>
        <p:nvSpPr>
          <p:cNvPr id="4" name="closing stat 0"/>
          <p:cNvSpPr txBox="1"/>
          <p:nvPr/>
        </p:nvSpPr>
        <p:spPr>
          <a:xfrm>
            <a:off x="548640" y="49377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3 з 3</a:t>
            </a:r>
            <a:endParaRPr lang="en-US" sz="3000" dirty="0"/>
          </a:p>
        </p:txBody>
      </p:sp>
      <p:sp>
        <p:nvSpPr>
          <p:cNvPr id="5" name="closing stat 0 label"/>
          <p:cNvSpPr txBox="1"/>
          <p:nvPr/>
        </p:nvSpPr>
        <p:spPr>
          <a:xfrm>
            <a:off x="548640" y="54864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сценаріїв вирішено діями</a:t>
            </a:r>
            <a:endParaRPr lang="en-US" sz="1300" dirty="0"/>
          </a:p>
        </p:txBody>
      </p:sp>
      <p:sp>
        <p:nvSpPr>
          <p:cNvPr id="6" name="closing stat 1"/>
          <p:cNvSpPr txBox="1"/>
          <p:nvPr/>
        </p:nvSpPr>
        <p:spPr>
          <a:xfrm>
            <a:off x="3566160" y="49377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1 клік</a:t>
            </a:r>
            <a:endParaRPr lang="en-US" sz="3000" dirty="0"/>
          </a:p>
        </p:txBody>
      </p:sp>
      <p:sp>
        <p:nvSpPr>
          <p:cNvPr id="7" name="closing stat 1 label"/>
          <p:cNvSpPr txBox="1"/>
          <p:nvPr/>
        </p:nvSpPr>
        <p:spPr>
          <a:xfrm>
            <a:off x="3566160" y="54864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на погодження ризикової дії</a:t>
            </a:r>
            <a:endParaRPr lang="en-US" sz="1300" dirty="0"/>
          </a:p>
        </p:txBody>
      </p:sp>
      <p:sp>
        <p:nvSpPr>
          <p:cNvPr id="8" name="closing stat 2"/>
          <p:cNvSpPr txBox="1"/>
          <p:nvPr/>
        </p:nvSpPr>
        <p:spPr>
          <a:xfrm>
            <a:off x="6583680" y="49377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1 700 грн</a:t>
            </a:r>
            <a:endParaRPr lang="en-US" sz="3000" dirty="0"/>
          </a:p>
        </p:txBody>
      </p:sp>
      <p:sp>
        <p:nvSpPr>
          <p:cNvPr id="9" name="closing stat 2 label"/>
          <p:cNvSpPr txBox="1"/>
          <p:nvPr/>
        </p:nvSpPr>
        <p:spPr>
          <a:xfrm>
            <a:off x="6583680" y="54864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передоплат збережено або повернено</a:t>
            </a:r>
            <a:endParaRPr lang="en-US" sz="1300" dirty="0"/>
          </a:p>
        </p:txBody>
      </p:sp>
      <p:sp>
        <p:nvSpPr>
          <p:cNvPr id="10" name="repo"/>
          <p:cNvSpPr txBox="1"/>
          <p:nvPr/>
        </p:nvSpPr>
        <p:spPr>
          <a:xfrm>
            <a:off x="548640" y="6263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github.com/redrembo24680/polytech_hack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ookly Pitch">
  <a:themeElements>
    <a:clrScheme name="Bookly Pitch">
      <a:dk1>
        <a:srgbClr val="16163A"/>
      </a:dk1>
      <a:lt1>
        <a:srgbClr val="FFFFFF"/>
      </a:lt1>
      <a:dk2>
        <a:srgbClr val="4B4E6D"/>
      </a:dk2>
      <a:lt2>
        <a:srgbClr val="F1F2FB"/>
      </a:lt2>
      <a:accent1>
        <a:srgbClr val="4F46E5"/>
      </a:accent1>
      <a:accent2>
        <a:srgbClr val="F2665C"/>
      </a:accent2>
      <a:accent3>
        <a:srgbClr val="12B886"/>
      </a:accent3>
      <a:accent4>
        <a:srgbClr val="F59F00"/>
      </a:accent4>
      <a:accent5>
        <a:srgbClr val="868AA8"/>
      </a:accent5>
      <a:accent6>
        <a:srgbClr val="C7C9F5"/>
      </a:accent6>
      <a:hlink>
        <a:srgbClr val="4F46E5"/>
      </a:hlink>
      <a:folHlink>
        <a:srgbClr val="6D28D9"/>
      </a:folHlink>
    </a:clrScheme>
    <a:fontScheme name="Bookly Pitch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Bookly — AI-підтримка, яка діє</dc:title>
  <dc:subject>PptxGenJS Presentation</dc:subject>
  <dc:creator>redrembo24680</dc:creator>
  <cp:lastModifiedBy>redrembo24680</cp:lastModifiedBy>
  <cp:revision>1</cp:revision>
  <dcterms:created xsi:type="dcterms:W3CDTF">2026-10-31T14:25:29Z</dcterms:created>
  <dcterms:modified xsi:type="dcterms:W3CDTF">2026-10-31T14:25:29Z</dcterms:modified>
</cp:coreProperties>
</file>