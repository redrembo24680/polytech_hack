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d9b9f476-20f9-52f4-c1a7-9add09af9fc6}">
          <p14:sldIdLst>
            <p14:sldId id="256"/>
          </p14:sldIdLst>
        </p14:section>
        <p14:section name="Проблема і рішення" id="{53990c80-82ec-ae28-3c38-3b58afe01bd4}">
          <p14:sldIdLst>
            <p14:sldId id="257"/>
          </p14:sldIdLst>
        </p14:section>
        <p14:section name="Як це працює" id="{55856757-7abf-6079-3efd-9d58a0054f74}">
          <p14:sldIdLst>
            <p14:sldId id="258"/>
          </p14:sldIdLst>
        </p14:section>
        <p14:section name="Демо" id="{e4ae56ed-4342-a248-a702-1fa86f4718f9}">
          <p14:sldIdLst>
            <p14:sldId id="259"/>
            <p14:sldId id="260"/>
            <p14:sldId id="261"/>
          </p14:sldIdLst>
        </p14:section>
        <p14:section name="Чому це працює" id="{8bc77671-a8e4-09aa-7abd-ea31c1a2ce1f}">
          <p14:sldIdLst>
            <p14:sldId id="262"/>
            <p14:sldId id="263"/>
            <p14:sldId id="264"/>
          </p14:sldIdLst>
        </p14:section>
        <p14:section name="Підсумок" id="{14544b80-21b1-5e6d-3a27-df410595974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зробили не чат-бот, а операційного асистента для підтримки. Клієнт пише як людині — агент сам розбирається, що сталося, і виконує дію в системі бізнесу, а ризикові рішення віддає адміністратору.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Біль реальний: до чверті записів не доходять, а адміністратор вручну перевіряє правила й переносить записи. Боти не допомагають — вони не мають доступу до системи. Ми зробили платформу для бізнесів за записом і агента, який працює поверх неї: читає правила саме цього бізнесу й виконує дії, а ризикові рішення віддає людині.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Кожне повідомлення спершу проходить тріаж: що людина хоче, у якому вона стані, чи це терміново. Прості питання дешево закриває Gemma 4. Усе, що змінює дані, йде через агента, а кожна дія перевіряється правилами бізнесу — модель не може обійти permission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Агент не просто співчуває — він бачить, що це лояльна клієнтка, а політика салону дозволяє один виняток на пів року без погодження. Тому сам переносить і зберігає передоплату. В copilot видно кожен виклик інструмента.
Відео: presentation/videos/scene-A.mp4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Однакове звернення — інше рішення, бо інший контекст. Агент чесно пояснює клієнту, що чекає на рішення, а адміністратор отримує готовий розбір і кнопку «схвалити».
Відео: presentation/videos/scene-B.mp4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Той самий агент у іншому бізнесі поводиться обережніше, бо правила інші. Він розбиває задачу на дві дії, кожну погоджує людина, і тримає клієнта в курсі.
Відео: presentation/videos/scene-C.mp4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головна ідея повторного використання: агент не захардкожений під салон. Власник у налаштуваннях вирішує, що AI робить сам, а що лише з погодженням. Тому однакове звернення в салоні й клініці закінчується по-різному.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 агентом — працююча платформа: мульти-тенант, PostgreSQL, Docker, 119 тестів бекенду. Будь-який салон чи клініка реєструється, налаштовує правила — і AI-підтримка працює одразу. Відео: presentation/videos/product-tour.mp4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Цифри з демо: 500 грн Олени і 400 грн Максима збережено, 800 грн Петру повернено. Адміністратор не робить рутину руками, а лише погоджує те, що справді потребує людини. Далі коротко по п'яти критеріях з ТЗ. Прості питання (ціна, адреса) закриває Gemma 4 без дій — відео scene-Q.mp4 є як запасне.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Підсумок: AI тут не інтерфейс спілкування, а учасник операцій. Наступні кроки — інтеграції й прогнозування неявок на даних, які платформа вже збирає.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rgbClr val="16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1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"/>
          <p:cNvSpPr txBox="1"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PolyTech Code Fest · AI Customer Support Automation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AI-підтримка, яка не пояснює, а вирішує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Bookly — платформа для бізнесів за записом і AI-агент, що сам переносить, скасовує та повертає гроші за правилами кожного бізнесу</a:t>
            </a:r>
            <a:endParaRPr lang="en-US" sz="2200" dirty="0"/>
          </a:p>
        </p:txBody>
      </p:sp>
      <p:sp>
        <p:nvSpPr>
          <p:cNvPr id="5" name="hero circle"/>
          <p:cNvSpPr/>
          <p:nvPr/>
        </p:nvSpPr>
        <p:spPr>
          <a:xfrm>
            <a:off x="9692640" y="19659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her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246888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Рутина підтримки → AI, який сам діє в системі</a:t>
            </a:r>
            <a:endParaRPr lang="en-US" sz="3200" dirty="0"/>
          </a:p>
        </p:txBody>
      </p:sp>
      <p:sp>
        <p:nvSpPr>
          <p:cNvPr id="3" name="problem label"/>
          <p:cNvSpPr txBox="1"/>
          <p:nvPr/>
        </p:nvSpPr>
        <p:spPr>
          <a:xfrm>
            <a:off x="548640" y="1280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ПРОБЛЕМА</a:t>
            </a:r>
            <a:endParaRPr lang="en-US" sz="1200" dirty="0"/>
          </a:p>
        </p:txBody>
      </p:sp>
      <p:sp>
        <p:nvSpPr>
          <p:cNvPr id="4" name="pain 1"/>
          <p:cNvSpPr/>
          <p:nvPr/>
        </p:nvSpPr>
        <p:spPr>
          <a:xfrm>
            <a:off x="548640" y="1691640"/>
            <a:ext cx="52120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5" name="pain 1 icon bg"/>
          <p:cNvSpPr/>
          <p:nvPr/>
        </p:nvSpPr>
        <p:spPr>
          <a:xfrm>
            <a:off x="777240" y="1938528"/>
            <a:ext cx="566928" cy="566928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2066544"/>
            <a:ext cx="310896" cy="310896"/>
          </a:xfrm>
          <a:prstGeom prst="rect">
            <a:avLst/>
          </a:prstGeom>
        </p:spPr>
      </p:pic>
      <p:sp>
        <p:nvSpPr>
          <p:cNvPr id="7" name="pain 1 head"/>
          <p:cNvSpPr txBox="1"/>
          <p:nvPr/>
        </p:nvSpPr>
        <p:spPr>
          <a:xfrm>
            <a:off x="1554480" y="18288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«Перенесіть», «поверніть»</a:t>
            </a:r>
            <a:endParaRPr lang="en-US" sz="1700" dirty="0"/>
          </a:p>
        </p:txBody>
      </p:sp>
      <p:sp>
        <p:nvSpPr>
          <p:cNvPr id="8" name="pain 1 text"/>
          <p:cNvSpPr txBox="1"/>
          <p:nvPr/>
        </p:nvSpPr>
        <p:spPr>
          <a:xfrm>
            <a:off x="1554480" y="22128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Адміністратор цілий день робить однакові дії вручну</a:t>
            </a:r>
            <a:endParaRPr lang="en-US" sz="1400" dirty="0"/>
          </a:p>
        </p:txBody>
      </p:sp>
      <p:sp>
        <p:nvSpPr>
          <p:cNvPr id="9" name="pain 2"/>
          <p:cNvSpPr/>
          <p:nvPr/>
        </p:nvSpPr>
        <p:spPr>
          <a:xfrm>
            <a:off x="548640" y="2926080"/>
            <a:ext cx="52120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0" name="pain 2 icon bg"/>
          <p:cNvSpPr/>
          <p:nvPr/>
        </p:nvSpPr>
        <p:spPr>
          <a:xfrm>
            <a:off x="777240" y="3172968"/>
            <a:ext cx="566928" cy="566928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3300984"/>
            <a:ext cx="310896" cy="310896"/>
          </a:xfrm>
          <a:prstGeom prst="rect">
            <a:avLst/>
          </a:prstGeom>
        </p:spPr>
      </p:pic>
      <p:sp>
        <p:nvSpPr>
          <p:cNvPr id="12" name="pain 2 head"/>
          <p:cNvSpPr txBox="1"/>
          <p:nvPr/>
        </p:nvSpPr>
        <p:spPr>
          <a:xfrm>
            <a:off x="155448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15–23% записів — неявки</a:t>
            </a:r>
            <a:endParaRPr lang="en-US" sz="1700" dirty="0"/>
          </a:p>
        </p:txBody>
      </p:sp>
      <p:sp>
        <p:nvSpPr>
          <p:cNvPr id="13" name="pain 2 text"/>
          <p:cNvSpPr txBox="1"/>
          <p:nvPr/>
        </p:nvSpPr>
        <p:spPr>
          <a:xfrm>
            <a:off x="1554480" y="344728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Передоплати, штрафи й винятки перевіряють вручну</a:t>
            </a:r>
            <a:endParaRPr lang="en-US" sz="1400" dirty="0"/>
          </a:p>
        </p:txBody>
      </p:sp>
      <p:sp>
        <p:nvSpPr>
          <p:cNvPr id="14" name="pain 3"/>
          <p:cNvSpPr/>
          <p:nvPr/>
        </p:nvSpPr>
        <p:spPr>
          <a:xfrm>
            <a:off x="548640" y="4160520"/>
            <a:ext cx="52120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pain 3 icon bg"/>
          <p:cNvSpPr/>
          <p:nvPr/>
        </p:nvSpPr>
        <p:spPr>
          <a:xfrm>
            <a:off x="777240" y="4407408"/>
            <a:ext cx="566928" cy="566928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6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4535424"/>
            <a:ext cx="310896" cy="310896"/>
          </a:xfrm>
          <a:prstGeom prst="rect">
            <a:avLst/>
          </a:prstGeom>
        </p:spPr>
      </p:pic>
      <p:sp>
        <p:nvSpPr>
          <p:cNvPr id="17" name="pain 3 head"/>
          <p:cNvSpPr txBox="1"/>
          <p:nvPr/>
        </p:nvSpPr>
        <p:spPr>
          <a:xfrm>
            <a:off x="1554480" y="42976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Боти лише пояснюють</a:t>
            </a:r>
            <a:endParaRPr lang="en-US" sz="1700" dirty="0"/>
          </a:p>
        </p:txBody>
      </p:sp>
      <p:sp>
        <p:nvSpPr>
          <p:cNvPr id="18" name="pain 3 text"/>
          <p:cNvSpPr txBox="1"/>
          <p:nvPr/>
        </p:nvSpPr>
        <p:spPr>
          <a:xfrm>
            <a:off x="1554480" y="46817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Розкажуть правила, але не перенесуть і не повернуть гроші</a:t>
            </a:r>
            <a:endParaRPr lang="en-US" sz="1400" dirty="0"/>
          </a:p>
        </p:txBody>
      </p:sp>
      <p:sp>
        <p:nvSpPr>
          <p:cNvPr id="19" name="solution label"/>
          <p:cNvSpPr txBox="1"/>
          <p:nvPr/>
        </p:nvSpPr>
        <p:spPr>
          <a:xfrm>
            <a:off x="6126480" y="128016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РІШЕННЯ</a:t>
            </a:r>
            <a:endParaRPr lang="en-US" sz="1200" dirty="0"/>
          </a:p>
        </p:txBody>
      </p:sp>
      <p:sp>
        <p:nvSpPr>
          <p:cNvPr id="20" name="solution card"/>
          <p:cNvSpPr/>
          <p:nvPr/>
        </p:nvSpPr>
        <p:spPr>
          <a:xfrm>
            <a:off x="6126480" y="1691640"/>
            <a:ext cx="5516575" cy="3520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1" name="solution icon bg"/>
          <p:cNvSpPr/>
          <p:nvPr/>
        </p:nvSpPr>
        <p:spPr>
          <a:xfrm>
            <a:off x="6400800" y="196596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2" name="soluti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093976"/>
            <a:ext cx="310896" cy="310896"/>
          </a:xfrm>
          <a:prstGeom prst="rect">
            <a:avLst/>
          </a:prstGeom>
        </p:spPr>
      </p:pic>
      <p:sp>
        <p:nvSpPr>
          <p:cNvPr id="23" name="solution head"/>
          <p:cNvSpPr txBox="1"/>
          <p:nvPr/>
        </p:nvSpPr>
        <p:spPr>
          <a:xfrm>
            <a:off x="6400800" y="2715768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Bookly + AI-агент підтримки</a:t>
            </a:r>
            <a:endParaRPr lang="en-US" sz="1800" dirty="0"/>
          </a:p>
        </p:txBody>
      </p:sp>
      <p:sp>
        <p:nvSpPr>
          <p:cNvPr id="24" name="solution text"/>
          <p:cNvSpPr txBox="1"/>
          <p:nvPr/>
        </p:nvSpPr>
        <p:spPr>
          <a:xfrm>
            <a:off x="6400800" y="3264408"/>
            <a:ext cx="496793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Платформа для салонів і клінік: запис, передоплата, адмінка, правила бізнесу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Агент розуміє намір і емоцію та діє інструментами: переносить, скасовує, повертає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Власник налаштовує, що AI робить сам, а що лише з погодженням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Чат на сайті, віджет, телефон — одні правила й одна черга погоджень</a:t>
            </a:r>
            <a:endParaRPr lang="en-US" sz="1500" dirty="0"/>
          </a:p>
        </p:txBody>
      </p:sp>
      <p:sp>
        <p:nvSpPr>
          <p:cNvPr id="25" name="key question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Питання не в тому, як швидше відповісти,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а в тому, як вирішити проблему.</a:t>
            </a:r>
            <a:endParaRPr lang="en-US" sz="1800" dirty="0"/>
          </a:p>
        </p:txBody>
      </p:sp>
      <p:sp>
        <p:nvSpPr>
          <p:cNvPr id="26" name="source"/>
          <p:cNvSpPr txBox="1"/>
          <p:nvPr/>
        </p:nvSpPr>
        <p:spPr>
          <a:xfrm>
            <a:off x="548640" y="6172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Частка неявок: SchedulingKit, Appointment No-Show Statistics 2026 (оцінки вендора).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Як агент приймає рішення</a:t>
            </a:r>
            <a:endParaRPr lang="en-US" sz="3200" dirty="0"/>
          </a:p>
        </p:txBody>
      </p:sp>
      <p:sp>
        <p:nvSpPr>
          <p:cNvPr id="3" name="flow 1 card"/>
          <p:cNvSpPr/>
          <p:nvPr/>
        </p:nvSpPr>
        <p:spPr>
          <a:xfrm>
            <a:off x="548640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4" name="flow 1 icon bg"/>
          <p:cNvSpPr/>
          <p:nvPr/>
        </p:nvSpPr>
        <p:spPr>
          <a:xfrm>
            <a:off x="822960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flow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56816"/>
            <a:ext cx="310896" cy="310896"/>
          </a:xfrm>
          <a:prstGeom prst="rect">
            <a:avLst/>
          </a:prstGeom>
        </p:spPr>
      </p:pic>
      <p:sp>
        <p:nvSpPr>
          <p:cNvPr id="6" name="flow 1 head"/>
          <p:cNvSpPr txBox="1"/>
          <p:nvPr/>
        </p:nvSpPr>
        <p:spPr>
          <a:xfrm>
            <a:off x="822960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Клієнт пише</a:t>
            </a:r>
            <a:endParaRPr lang="en-US" sz="1400" dirty="0"/>
          </a:p>
        </p:txBody>
      </p:sp>
      <p:sp>
        <p:nvSpPr>
          <p:cNvPr id="7" name="flow 1 text"/>
          <p:cNvSpPr txBox="1"/>
          <p:nvPr/>
        </p:nvSpPr>
        <p:spPr>
          <a:xfrm>
            <a:off x="822960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Чат на сайті, віджет або дзвінок</a:t>
            </a:r>
            <a:endParaRPr lang="en-US" sz="1300" dirty="0"/>
          </a:p>
        </p:txBody>
      </p:sp>
      <p:sp>
        <p:nvSpPr>
          <p:cNvPr id="8" name="flow arrow 1"/>
          <p:cNvSpPr txBox="1"/>
          <p:nvPr/>
        </p:nvSpPr>
        <p:spPr>
          <a:xfrm>
            <a:off x="2514600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flow 2 card"/>
          <p:cNvSpPr/>
          <p:nvPr/>
        </p:nvSpPr>
        <p:spPr>
          <a:xfrm>
            <a:off x="2830754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flow 2 icon bg"/>
          <p:cNvSpPr/>
          <p:nvPr/>
        </p:nvSpPr>
        <p:spPr>
          <a:xfrm>
            <a:off x="3105074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flow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090" y="1956816"/>
            <a:ext cx="310896" cy="310896"/>
          </a:xfrm>
          <a:prstGeom prst="rect">
            <a:avLst/>
          </a:prstGeom>
        </p:spPr>
      </p:pic>
      <p:sp>
        <p:nvSpPr>
          <p:cNvPr id="12" name="flow 2 head"/>
          <p:cNvSpPr txBox="1"/>
          <p:nvPr/>
        </p:nvSpPr>
        <p:spPr>
          <a:xfrm>
            <a:off x="3105074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Оркестратор</a:t>
            </a:r>
            <a:endParaRPr lang="en-US" sz="1400" dirty="0"/>
          </a:p>
        </p:txBody>
      </p:sp>
      <p:sp>
        <p:nvSpPr>
          <p:cNvPr id="13" name="flow 2 text"/>
          <p:cNvSpPr txBox="1"/>
          <p:nvPr/>
        </p:nvSpPr>
        <p:spPr>
          <a:xfrm>
            <a:off x="3105074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Sonnet: намір, емоція, терміновість, маршрут</a:t>
            </a:r>
            <a:endParaRPr lang="en-US" sz="1300" dirty="0"/>
          </a:p>
        </p:txBody>
      </p:sp>
      <p:sp>
        <p:nvSpPr>
          <p:cNvPr id="14" name="flow arrow 2"/>
          <p:cNvSpPr txBox="1"/>
          <p:nvPr/>
        </p:nvSpPr>
        <p:spPr>
          <a:xfrm>
            <a:off x="4796714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flow 3 card"/>
          <p:cNvSpPr/>
          <p:nvPr/>
        </p:nvSpPr>
        <p:spPr>
          <a:xfrm>
            <a:off x="5112868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6" name="flow 3 icon bg"/>
          <p:cNvSpPr/>
          <p:nvPr/>
        </p:nvSpPr>
        <p:spPr>
          <a:xfrm>
            <a:off x="5387188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flow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204" y="1956816"/>
            <a:ext cx="310896" cy="310896"/>
          </a:xfrm>
          <a:prstGeom prst="rect">
            <a:avLst/>
          </a:prstGeom>
        </p:spPr>
      </p:pic>
      <p:sp>
        <p:nvSpPr>
          <p:cNvPr id="18" name="flow 3 head"/>
          <p:cNvSpPr txBox="1"/>
          <p:nvPr/>
        </p:nvSpPr>
        <p:spPr>
          <a:xfrm>
            <a:off x="5387188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Агент-виконавець</a:t>
            </a:r>
            <a:endParaRPr lang="en-US" sz="1400" dirty="0"/>
          </a:p>
        </p:txBody>
      </p:sp>
      <p:sp>
        <p:nvSpPr>
          <p:cNvPr id="19" name="flow 3 text"/>
          <p:cNvSpPr txBox="1"/>
          <p:nvPr/>
        </p:nvSpPr>
        <p:spPr>
          <a:xfrm>
            <a:off x="5387188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Читає профіль і правила, викликає інструменти</a:t>
            </a:r>
            <a:endParaRPr lang="en-US" sz="1300" dirty="0"/>
          </a:p>
        </p:txBody>
      </p:sp>
      <p:sp>
        <p:nvSpPr>
          <p:cNvPr id="20" name="flow arrow 3"/>
          <p:cNvSpPr txBox="1"/>
          <p:nvPr/>
        </p:nvSpPr>
        <p:spPr>
          <a:xfrm>
            <a:off x="7078828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flow 4 card"/>
          <p:cNvSpPr/>
          <p:nvPr/>
        </p:nvSpPr>
        <p:spPr>
          <a:xfrm>
            <a:off x="7394981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2" name="flow 4 icon bg"/>
          <p:cNvSpPr/>
          <p:nvPr/>
        </p:nvSpPr>
        <p:spPr>
          <a:xfrm>
            <a:off x="7669301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3" name="flow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7317" y="1956816"/>
            <a:ext cx="310896" cy="310896"/>
          </a:xfrm>
          <a:prstGeom prst="rect">
            <a:avLst/>
          </a:prstGeom>
        </p:spPr>
      </p:pic>
      <p:sp>
        <p:nvSpPr>
          <p:cNvPr id="24" name="flow 4 head"/>
          <p:cNvSpPr txBox="1"/>
          <p:nvPr/>
        </p:nvSpPr>
        <p:spPr>
          <a:xfrm>
            <a:off x="7669301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Permission engine</a:t>
            </a:r>
            <a:endParaRPr lang="en-US" sz="1400" dirty="0"/>
          </a:p>
        </p:txBody>
      </p:sp>
      <p:sp>
        <p:nvSpPr>
          <p:cNvPr id="25" name="flow 4 text"/>
          <p:cNvSpPr txBox="1"/>
          <p:nvPr/>
        </p:nvSpPr>
        <p:spPr>
          <a:xfrm>
            <a:off x="7669301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Сам · з погодженням · заборонено</a:t>
            </a:r>
            <a:endParaRPr lang="en-US" sz="1300" dirty="0"/>
          </a:p>
        </p:txBody>
      </p:sp>
      <p:sp>
        <p:nvSpPr>
          <p:cNvPr id="26" name="flow arrow 4"/>
          <p:cNvSpPr txBox="1"/>
          <p:nvPr/>
        </p:nvSpPr>
        <p:spPr>
          <a:xfrm>
            <a:off x="9360941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flow 5 card"/>
          <p:cNvSpPr/>
          <p:nvPr/>
        </p:nvSpPr>
        <p:spPr>
          <a:xfrm>
            <a:off x="9677095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8" name="flow 5 icon bg"/>
          <p:cNvSpPr/>
          <p:nvPr/>
        </p:nvSpPr>
        <p:spPr>
          <a:xfrm>
            <a:off x="9951415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9" name="flow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9431" y="1956816"/>
            <a:ext cx="310896" cy="310896"/>
          </a:xfrm>
          <a:prstGeom prst="rect">
            <a:avLst/>
          </a:prstGeom>
        </p:spPr>
      </p:pic>
      <p:sp>
        <p:nvSpPr>
          <p:cNvPr id="30" name="flow 5 head"/>
          <p:cNvSpPr txBox="1"/>
          <p:nvPr/>
        </p:nvSpPr>
        <p:spPr>
          <a:xfrm>
            <a:off x="9951415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Платформа</a:t>
            </a:r>
            <a:endParaRPr lang="en-US" sz="1400" dirty="0"/>
          </a:p>
        </p:txBody>
      </p:sp>
      <p:sp>
        <p:nvSpPr>
          <p:cNvPr id="31" name="flow 5 text"/>
          <p:cNvSpPr txBox="1"/>
          <p:nvPr/>
        </p:nvSpPr>
        <p:spPr>
          <a:xfrm>
            <a:off x="9951415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API / MCP: зміни в реальних даних</a:t>
            </a:r>
            <a:endParaRPr lang="en-US" sz="1300" dirty="0"/>
          </a:p>
        </p:txBody>
      </p:sp>
      <p:sp>
        <p:nvSpPr>
          <p:cNvPr id="32" name="routing box"/>
          <p:cNvSpPr/>
          <p:nvPr/>
        </p:nvSpPr>
        <p:spPr>
          <a:xfrm>
            <a:off x="548640" y="457200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3" name="routing text"/>
          <p:cNvSpPr txBox="1"/>
          <p:nvPr/>
        </p:nvSpPr>
        <p:spPr>
          <a:xfrm>
            <a:off x="822960" y="4572000"/>
            <a:ext cx="1054577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Просте питання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(ціна, адреса) → відповідає Gemma 4, без дій. 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Дія із записом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завжди через агента й permission engine. 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Гнів чи терміновість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ескалація людині.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Демо 1. Олена: агент сам рятує передоплату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«Дитина захворіла, не встигаю завтра на 10». Пізнє перенесення — за правилами передоплата згорає.</a:t>
            </a:r>
            <a:endParaRPr lang="en-US" sz="1600" dirty="0"/>
          </a:p>
        </p:txBody>
      </p:sp>
      <p:pic>
        <p:nvPicPr>
          <p:cNvPr id="4" name="video scene-A.mp4" descr="Кадр з відео scene-A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67005"/>
          </a:xfrm>
          <a:prstGeom prst="rect">
            <a:avLst/>
          </a:prstGeom>
        </p:spPr>
      </p:pic>
      <p:sp>
        <p:nvSpPr>
          <p:cNvPr id="5" name="insert video badge"/>
          <p:cNvSpPr/>
          <p:nvPr/>
        </p:nvSpPr>
        <p:spPr>
          <a:xfrm>
            <a:off x="4632808" y="3196542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6" name="insert video label"/>
          <p:cNvSpPr txBox="1"/>
          <p:nvPr/>
        </p:nvSpPr>
        <p:spPr>
          <a:xfrm>
            <a:off x="4632808" y="319654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scene-A.mp4</a:t>
            </a:r>
            <a:endParaRPr lang="en-US" sz="1400" dirty="0"/>
          </a:p>
        </p:txBody>
      </p:sp>
      <p:sp>
        <p:nvSpPr>
          <p:cNvPr id="7" name="video label 0"/>
          <p:cNvSpPr txBox="1"/>
          <p:nvPr/>
        </p:nvSpPr>
        <p:spPr>
          <a:xfrm>
            <a:off x="548640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Клієнт на сайті Bookly</a:t>
            </a:r>
            <a:endParaRPr lang="en-US" sz="1200" dirty="0"/>
          </a:p>
        </p:txBody>
      </p:sp>
      <p:sp>
        <p:nvSpPr>
          <p:cNvPr id="8" name="video label 1"/>
          <p:cNvSpPr txBox="1"/>
          <p:nvPr/>
        </p:nvSpPr>
        <p:spPr>
          <a:xfrm>
            <a:off x="6095848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Чат і copilot адміністратора</a:t>
            </a:r>
            <a:endParaRPr lang="en-US" sz="1200" dirty="0"/>
          </a:p>
        </p:txBody>
      </p:sp>
      <p:sp>
        <p:nvSpPr>
          <p:cNvPr id="9" name="step 1"/>
          <p:cNvSpPr/>
          <p:nvPr/>
        </p:nvSpPr>
        <p:spPr>
          <a:xfrm>
            <a:off x="548640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step 1 dot"/>
          <p:cNvSpPr/>
          <p:nvPr/>
        </p:nvSpPr>
        <p:spPr>
          <a:xfrm>
            <a:off x="749808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74980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tep 1 head"/>
          <p:cNvSpPr txBox="1"/>
          <p:nvPr/>
        </p:nvSpPr>
        <p:spPr>
          <a:xfrm>
            <a:off x="1234440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Контекст</a:t>
            </a:r>
            <a:endParaRPr lang="en-US" sz="1500" dirty="0"/>
          </a:p>
        </p:txBody>
      </p:sp>
      <p:sp>
        <p:nvSpPr>
          <p:cNvPr id="13" name="step 1 text"/>
          <p:cNvSpPr txBox="1"/>
          <p:nvPr/>
        </p:nvSpPr>
        <p:spPr>
          <a:xfrm>
            <a:off x="1234440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візитів, 0 неявок, винятків ще не було</a:t>
            </a:r>
            <a:endParaRPr lang="en-US" sz="1200" dirty="0"/>
          </a:p>
        </p:txBody>
      </p:sp>
      <p:sp>
        <p:nvSpPr>
          <p:cNvPr id="14" name="step 2"/>
          <p:cNvSpPr/>
          <p:nvPr/>
        </p:nvSpPr>
        <p:spPr>
          <a:xfrm>
            <a:off x="4338218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5" name="step 2 dot"/>
          <p:cNvSpPr/>
          <p:nvPr/>
        </p:nvSpPr>
        <p:spPr>
          <a:xfrm>
            <a:off x="4539386" y="5504688"/>
            <a:ext cx="365760" cy="365760"/>
          </a:xfrm>
          <a:prstGeom prst="ellipse">
            <a:avLst/>
          </a:prstGeom>
          <a:solidFill>
            <a:srgbClr val="12B886"/>
          </a:solidFill>
          <a:ln/>
        </p:spPr>
      </p:sp>
      <p:sp>
        <p:nvSpPr>
          <p:cNvPr id="16" name="step 2 number"/>
          <p:cNvSpPr txBox="1"/>
          <p:nvPr/>
        </p:nvSpPr>
        <p:spPr>
          <a:xfrm>
            <a:off x="453938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step 2 head"/>
          <p:cNvSpPr txBox="1"/>
          <p:nvPr/>
        </p:nvSpPr>
        <p:spPr>
          <a:xfrm>
            <a:off x="5024018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Рішення сам</a:t>
            </a:r>
            <a:endParaRPr lang="en-US" sz="1500" dirty="0"/>
          </a:p>
        </p:txBody>
      </p:sp>
      <p:sp>
        <p:nvSpPr>
          <p:cNvPr id="18" name="step 2 text"/>
          <p:cNvSpPr txBox="1"/>
          <p:nvPr/>
        </p:nvSpPr>
        <p:spPr>
          <a:xfrm>
            <a:off x="5024018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Правило салону дозволяє виняток автоматично</a:t>
            </a:r>
            <a:endParaRPr lang="en-US" sz="1200" dirty="0"/>
          </a:p>
        </p:txBody>
      </p:sp>
      <p:sp>
        <p:nvSpPr>
          <p:cNvPr id="19" name="step 3"/>
          <p:cNvSpPr/>
          <p:nvPr/>
        </p:nvSpPr>
        <p:spPr>
          <a:xfrm>
            <a:off x="8127797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0" name="step 3 dot"/>
          <p:cNvSpPr/>
          <p:nvPr/>
        </p:nvSpPr>
        <p:spPr>
          <a:xfrm>
            <a:off x="8328965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step 3 number"/>
          <p:cNvSpPr txBox="1"/>
          <p:nvPr/>
        </p:nvSpPr>
        <p:spPr>
          <a:xfrm>
            <a:off x="8328965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tep 3 head"/>
          <p:cNvSpPr txBox="1"/>
          <p:nvPr/>
        </p:nvSpPr>
        <p:spPr>
          <a:xfrm>
            <a:off x="8813597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Дія</a:t>
            </a:r>
            <a:endParaRPr lang="en-US" sz="1500" dirty="0"/>
          </a:p>
        </p:txBody>
      </p:sp>
      <p:sp>
        <p:nvSpPr>
          <p:cNvPr id="23" name="step 3 text"/>
          <p:cNvSpPr txBox="1"/>
          <p:nvPr/>
        </p:nvSpPr>
        <p:spPr>
          <a:xfrm>
            <a:off x="8813597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Знаходить слоти, переносить, 500 грн збережено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Демо 2. Максим: ризикове рішення — людині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Той самий запит, але в клієнта 2 неявки. Агент не вирішує сам, а просить адміністратора.</a:t>
            </a:r>
            <a:endParaRPr lang="en-US" sz="1600" dirty="0"/>
          </a:p>
        </p:txBody>
      </p:sp>
      <p:pic>
        <p:nvPicPr>
          <p:cNvPr id="4" name="video scene-B.mp4" descr="Кадр з відео scene-B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67005"/>
          </a:xfrm>
          <a:prstGeom prst="rect">
            <a:avLst/>
          </a:prstGeom>
        </p:spPr>
      </p:pic>
      <p:sp>
        <p:nvSpPr>
          <p:cNvPr id="5" name="insert video badge"/>
          <p:cNvSpPr/>
          <p:nvPr/>
        </p:nvSpPr>
        <p:spPr>
          <a:xfrm>
            <a:off x="4632808" y="3196542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6" name="insert video label"/>
          <p:cNvSpPr txBox="1"/>
          <p:nvPr/>
        </p:nvSpPr>
        <p:spPr>
          <a:xfrm>
            <a:off x="4632808" y="319654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scene-B.mp4</a:t>
            </a:r>
            <a:endParaRPr lang="en-US" sz="1400" dirty="0"/>
          </a:p>
        </p:txBody>
      </p:sp>
      <p:sp>
        <p:nvSpPr>
          <p:cNvPr id="7" name="video label 0"/>
          <p:cNvSpPr txBox="1"/>
          <p:nvPr/>
        </p:nvSpPr>
        <p:spPr>
          <a:xfrm>
            <a:off x="548640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Клієнт на сайті Bookly</a:t>
            </a:r>
            <a:endParaRPr lang="en-US" sz="1200" dirty="0"/>
          </a:p>
        </p:txBody>
      </p:sp>
      <p:sp>
        <p:nvSpPr>
          <p:cNvPr id="8" name="video label 1"/>
          <p:cNvSpPr txBox="1"/>
          <p:nvPr/>
        </p:nvSpPr>
        <p:spPr>
          <a:xfrm>
            <a:off x="6095848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Чат і copilot адміністратора</a:t>
            </a:r>
            <a:endParaRPr lang="en-US" sz="1200" dirty="0"/>
          </a:p>
        </p:txBody>
      </p:sp>
      <p:sp>
        <p:nvSpPr>
          <p:cNvPr id="9" name="step 1"/>
          <p:cNvSpPr/>
          <p:nvPr/>
        </p:nvSpPr>
        <p:spPr>
          <a:xfrm>
            <a:off x="548640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step 1 dot"/>
          <p:cNvSpPr/>
          <p:nvPr/>
        </p:nvSpPr>
        <p:spPr>
          <a:xfrm>
            <a:off x="749808" y="5504688"/>
            <a:ext cx="365760" cy="365760"/>
          </a:xfrm>
          <a:prstGeom prst="ellipse">
            <a:avLst/>
          </a:prstGeom>
          <a:solidFill>
            <a:srgbClr val="F59F00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74980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tep 1 head"/>
          <p:cNvSpPr txBox="1"/>
          <p:nvPr/>
        </p:nvSpPr>
        <p:spPr>
          <a:xfrm>
            <a:off x="1234440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Контекст</a:t>
            </a:r>
            <a:endParaRPr lang="en-US" sz="1500" dirty="0"/>
          </a:p>
        </p:txBody>
      </p:sp>
      <p:sp>
        <p:nvSpPr>
          <p:cNvPr id="13" name="step 1 text"/>
          <p:cNvSpPr txBox="1"/>
          <p:nvPr/>
        </p:nvSpPr>
        <p:spPr>
          <a:xfrm>
            <a:off x="1234440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неявки — автоматичний виняток не дозволено</a:t>
            </a:r>
            <a:endParaRPr lang="en-US" sz="1200" dirty="0"/>
          </a:p>
        </p:txBody>
      </p:sp>
      <p:sp>
        <p:nvSpPr>
          <p:cNvPr id="14" name="step 2"/>
          <p:cNvSpPr/>
          <p:nvPr/>
        </p:nvSpPr>
        <p:spPr>
          <a:xfrm>
            <a:off x="4338218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5" name="step 2 dot"/>
          <p:cNvSpPr/>
          <p:nvPr/>
        </p:nvSpPr>
        <p:spPr>
          <a:xfrm>
            <a:off x="4539386" y="5504688"/>
            <a:ext cx="365760" cy="365760"/>
          </a:xfrm>
          <a:prstGeom prst="ellipse">
            <a:avLst/>
          </a:prstGeom>
          <a:solidFill>
            <a:srgbClr val="F59F00"/>
          </a:solidFill>
          <a:ln/>
        </p:spPr>
      </p:sp>
      <p:sp>
        <p:nvSpPr>
          <p:cNvPr id="16" name="step 2 number"/>
          <p:cNvSpPr txBox="1"/>
          <p:nvPr/>
        </p:nvSpPr>
        <p:spPr>
          <a:xfrm>
            <a:off x="453938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step 2 head"/>
          <p:cNvSpPr txBox="1"/>
          <p:nvPr/>
        </p:nvSpPr>
        <p:spPr>
          <a:xfrm>
            <a:off x="5024018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Погодження</a:t>
            </a:r>
            <a:endParaRPr lang="en-US" sz="1500" dirty="0"/>
          </a:p>
        </p:txBody>
      </p:sp>
      <p:sp>
        <p:nvSpPr>
          <p:cNvPr id="18" name="step 2 text"/>
          <p:cNvSpPr txBox="1"/>
          <p:nvPr/>
        </p:nvSpPr>
        <p:spPr>
          <a:xfrm>
            <a:off x="5024018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Адміністратор схвалює в copilot одним кліком</a:t>
            </a:r>
            <a:endParaRPr lang="en-US" sz="1200" dirty="0"/>
          </a:p>
        </p:txBody>
      </p:sp>
      <p:sp>
        <p:nvSpPr>
          <p:cNvPr id="19" name="step 3"/>
          <p:cNvSpPr/>
          <p:nvPr/>
        </p:nvSpPr>
        <p:spPr>
          <a:xfrm>
            <a:off x="8127797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0" name="step 3 dot"/>
          <p:cNvSpPr/>
          <p:nvPr/>
        </p:nvSpPr>
        <p:spPr>
          <a:xfrm>
            <a:off x="8328965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step 3 number"/>
          <p:cNvSpPr txBox="1"/>
          <p:nvPr/>
        </p:nvSpPr>
        <p:spPr>
          <a:xfrm>
            <a:off x="8328965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tep 3 head"/>
          <p:cNvSpPr txBox="1"/>
          <p:nvPr/>
        </p:nvSpPr>
        <p:spPr>
          <a:xfrm>
            <a:off x="8813597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Дія</a:t>
            </a:r>
            <a:endParaRPr lang="en-US" sz="1500" dirty="0"/>
          </a:p>
        </p:txBody>
      </p:sp>
      <p:sp>
        <p:nvSpPr>
          <p:cNvPr id="23" name="step 3 text"/>
          <p:cNvSpPr txBox="1"/>
          <p:nvPr/>
        </p:nvSpPr>
        <p:spPr>
          <a:xfrm>
            <a:off x="8813597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Агент сам повертається до клієнта й переносить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Демо 3. Петро в клініці: суворі правила, дві дії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«Хочу скасувати запис і повернути гроші». У клініці правила суворіші: усе через погодження.</a:t>
            </a:r>
            <a:endParaRPr lang="en-US" sz="1600" dirty="0"/>
          </a:p>
        </p:txBody>
      </p:sp>
      <p:pic>
        <p:nvPicPr>
          <p:cNvPr id="4" name="video scene-C.mp4" descr="Кадр з відео scene-C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67005"/>
          </a:xfrm>
          <a:prstGeom prst="rect">
            <a:avLst/>
          </a:prstGeom>
        </p:spPr>
      </p:pic>
      <p:sp>
        <p:nvSpPr>
          <p:cNvPr id="5" name="insert video badge"/>
          <p:cNvSpPr/>
          <p:nvPr/>
        </p:nvSpPr>
        <p:spPr>
          <a:xfrm>
            <a:off x="4632808" y="3196542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6" name="insert video label"/>
          <p:cNvSpPr txBox="1"/>
          <p:nvPr/>
        </p:nvSpPr>
        <p:spPr>
          <a:xfrm>
            <a:off x="4632808" y="319654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scene-C.mp4</a:t>
            </a:r>
            <a:endParaRPr lang="en-US" sz="1400" dirty="0"/>
          </a:p>
        </p:txBody>
      </p:sp>
      <p:sp>
        <p:nvSpPr>
          <p:cNvPr id="7" name="video label 0"/>
          <p:cNvSpPr txBox="1"/>
          <p:nvPr/>
        </p:nvSpPr>
        <p:spPr>
          <a:xfrm>
            <a:off x="548640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Клієнт на сайті Bookly</a:t>
            </a:r>
            <a:endParaRPr lang="en-US" sz="1200" dirty="0"/>
          </a:p>
        </p:txBody>
      </p:sp>
      <p:sp>
        <p:nvSpPr>
          <p:cNvPr id="8" name="video label 1"/>
          <p:cNvSpPr txBox="1"/>
          <p:nvPr/>
        </p:nvSpPr>
        <p:spPr>
          <a:xfrm>
            <a:off x="6095848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Чат і copilot адміністратора</a:t>
            </a:r>
            <a:endParaRPr lang="en-US" sz="1200" dirty="0"/>
          </a:p>
        </p:txBody>
      </p:sp>
      <p:sp>
        <p:nvSpPr>
          <p:cNvPr id="9" name="step 1"/>
          <p:cNvSpPr/>
          <p:nvPr/>
        </p:nvSpPr>
        <p:spPr>
          <a:xfrm>
            <a:off x="548640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step 1 dot"/>
          <p:cNvSpPr/>
          <p:nvPr/>
        </p:nvSpPr>
        <p:spPr>
          <a:xfrm>
            <a:off x="749808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74980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tep 1 head"/>
          <p:cNvSpPr txBox="1"/>
          <p:nvPr/>
        </p:nvSpPr>
        <p:spPr>
          <a:xfrm>
            <a:off x="1234440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Правила клініки</a:t>
            </a:r>
            <a:endParaRPr lang="en-US" sz="1500" dirty="0"/>
          </a:p>
        </p:txBody>
      </p:sp>
      <p:sp>
        <p:nvSpPr>
          <p:cNvPr id="13" name="step 1 text"/>
          <p:cNvSpPr txBox="1"/>
          <p:nvPr/>
        </p:nvSpPr>
        <p:spPr>
          <a:xfrm>
            <a:off x="1234440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Пізніше 48 год — передоплата 800 грн згорає</a:t>
            </a:r>
            <a:endParaRPr lang="en-US" sz="1200" dirty="0"/>
          </a:p>
        </p:txBody>
      </p:sp>
      <p:sp>
        <p:nvSpPr>
          <p:cNvPr id="14" name="step 2"/>
          <p:cNvSpPr/>
          <p:nvPr/>
        </p:nvSpPr>
        <p:spPr>
          <a:xfrm>
            <a:off x="4338218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5" name="step 2 dot"/>
          <p:cNvSpPr/>
          <p:nvPr/>
        </p:nvSpPr>
        <p:spPr>
          <a:xfrm>
            <a:off x="4539386" y="5504688"/>
            <a:ext cx="365760" cy="365760"/>
          </a:xfrm>
          <a:prstGeom prst="ellipse">
            <a:avLst/>
          </a:prstGeom>
          <a:solidFill>
            <a:srgbClr val="F59F00"/>
          </a:solidFill>
          <a:ln/>
        </p:spPr>
      </p:sp>
      <p:sp>
        <p:nvSpPr>
          <p:cNvPr id="16" name="step 2 number"/>
          <p:cNvSpPr txBox="1"/>
          <p:nvPr/>
        </p:nvSpPr>
        <p:spPr>
          <a:xfrm>
            <a:off x="453938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step 2 head"/>
          <p:cNvSpPr txBox="1"/>
          <p:nvPr/>
        </p:nvSpPr>
        <p:spPr>
          <a:xfrm>
            <a:off x="5024018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Два погодження</a:t>
            </a:r>
            <a:endParaRPr lang="en-US" sz="1500" dirty="0"/>
          </a:p>
        </p:txBody>
      </p:sp>
      <p:sp>
        <p:nvSpPr>
          <p:cNvPr id="18" name="step 2 text"/>
          <p:cNvSpPr txBox="1"/>
          <p:nvPr/>
        </p:nvSpPr>
        <p:spPr>
          <a:xfrm>
            <a:off x="5024018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Спершу повернення, потім скасування</a:t>
            </a:r>
            <a:endParaRPr lang="en-US" sz="1200" dirty="0"/>
          </a:p>
        </p:txBody>
      </p:sp>
      <p:sp>
        <p:nvSpPr>
          <p:cNvPr id="19" name="step 3"/>
          <p:cNvSpPr/>
          <p:nvPr/>
        </p:nvSpPr>
        <p:spPr>
          <a:xfrm>
            <a:off x="8127797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0" name="step 3 dot"/>
          <p:cNvSpPr/>
          <p:nvPr/>
        </p:nvSpPr>
        <p:spPr>
          <a:xfrm>
            <a:off x="8328965" y="5504688"/>
            <a:ext cx="365760" cy="365760"/>
          </a:xfrm>
          <a:prstGeom prst="ellipse">
            <a:avLst/>
          </a:prstGeom>
          <a:solidFill>
            <a:srgbClr val="12B886"/>
          </a:solidFill>
          <a:ln/>
        </p:spPr>
      </p:sp>
      <p:sp>
        <p:nvSpPr>
          <p:cNvPr id="21" name="step 3 number"/>
          <p:cNvSpPr txBox="1"/>
          <p:nvPr/>
        </p:nvSpPr>
        <p:spPr>
          <a:xfrm>
            <a:off x="8328965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tep 3 head"/>
          <p:cNvSpPr txBox="1"/>
          <p:nvPr/>
        </p:nvSpPr>
        <p:spPr>
          <a:xfrm>
            <a:off x="8813597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Результат</a:t>
            </a:r>
            <a:endParaRPr lang="en-US" sz="1500" dirty="0"/>
          </a:p>
        </p:txBody>
      </p:sp>
      <p:sp>
        <p:nvSpPr>
          <p:cNvPr id="23" name="step 3 text"/>
          <p:cNvSpPr txBox="1"/>
          <p:nvPr/>
        </p:nvSpPr>
        <p:spPr>
          <a:xfrm>
            <a:off x="8813597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Запис скасовано, 800 грн повернено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Один агент — різні правила кожного бізнесу</a:t>
            </a:r>
            <a:endParaRPr lang="en-US" sz="3200" dirty="0"/>
          </a:p>
        </p:txBody>
      </p:sp>
      <p:graphicFrame>
        <p:nvGraphicFramePr>
          <p:cNvPr id="8" name="polic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980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Правило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Lumen Beauty (салон)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DentaPlus (клініка)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Безкоштовне скасування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за 24 год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за 48 год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Штраф за неявку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300 грн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500 грн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Перенесення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Скасування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Повернення передоплати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 до 500 грн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Виняток з доброї волі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 (1 раз / 180 днів, без неявок)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Зняти штраф за неявку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заборонено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rol card"/>
          <p:cNvSpPr/>
          <p:nvPr/>
        </p:nvSpPr>
        <p:spPr>
          <a:xfrm>
            <a:off x="8321040" y="1417320"/>
            <a:ext cx="3322015" cy="3803904"/>
          </a:xfrm>
          <a:prstGeom prst="roundRect">
            <a:avLst>
              <a:gd name="adj" fmla="val 3303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5" name="control icon bg"/>
          <p:cNvSpPr/>
          <p:nvPr/>
        </p:nvSpPr>
        <p:spPr>
          <a:xfrm>
            <a:off x="8595360" y="169164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6" name="contro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76" y="1819656"/>
            <a:ext cx="310896" cy="310896"/>
          </a:xfrm>
          <a:prstGeom prst="rect">
            <a:avLst/>
          </a:prstGeom>
        </p:spPr>
      </p:pic>
      <p:sp>
        <p:nvSpPr>
          <p:cNvPr id="7" name="control head"/>
          <p:cNvSpPr txBox="1"/>
          <p:nvPr/>
        </p:nvSpPr>
        <p:spPr>
          <a:xfrm>
            <a:off x="8595360" y="2441448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Власник керує ризиком</a:t>
            </a:r>
            <a:endParaRPr lang="en-US" sz="1800" dirty="0"/>
          </a:p>
        </p:txBody>
      </p:sp>
      <p:sp>
        <p:nvSpPr>
          <p:cNvPr id="8" name="control text"/>
          <p:cNvSpPr txBox="1"/>
          <p:nvPr/>
        </p:nvSpPr>
        <p:spPr>
          <a:xfrm>
            <a:off x="8595360" y="2990088"/>
            <a:ext cx="2773375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Правила й дозволи агента змінюються в адмінці без коду. Агент читає їх на кожному кроці, а платформа перевіряє цілісність даних: вільний слот, сума, стан запису.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Справжній продукт, а не макет</a:t>
            </a:r>
            <a:endParaRPr lang="en-US" sz="3200" dirty="0"/>
          </a:p>
        </p:txBody>
      </p:sp>
      <p:pic>
        <p:nvPicPr>
          <p:cNvPr id="3" name="video product-tour.mp4" descr="Кадр з відео product-tour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4343400"/>
          </a:xfrm>
          <a:prstGeom prst="rect">
            <a:avLst/>
          </a:prstGeom>
        </p:spPr>
      </p:pic>
      <p:sp>
        <p:nvSpPr>
          <p:cNvPr id="4" name="insert video badge"/>
          <p:cNvSpPr/>
          <p:nvPr/>
        </p:nvSpPr>
        <p:spPr>
          <a:xfrm>
            <a:off x="2560320" y="3314700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5" name="insert video label"/>
          <p:cNvSpPr txBox="1"/>
          <p:nvPr/>
        </p:nvSpPr>
        <p:spPr>
          <a:xfrm>
            <a:off x="2560320" y="33147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product-tour.mp4</a:t>
            </a:r>
            <a:endParaRPr lang="en-US" sz="1400" dirty="0"/>
          </a:p>
        </p:txBody>
      </p:sp>
      <p:sp>
        <p:nvSpPr>
          <p:cNvPr id="6" name="tour icon bg 0"/>
          <p:cNvSpPr/>
          <p:nvPr/>
        </p:nvSpPr>
        <p:spPr>
          <a:xfrm>
            <a:off x="7863840" y="141732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7" name="tour icon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856" y="1545336"/>
            <a:ext cx="310896" cy="310896"/>
          </a:xfrm>
          <a:prstGeom prst="rect">
            <a:avLst/>
          </a:prstGeom>
        </p:spPr>
      </p:pic>
      <p:sp>
        <p:nvSpPr>
          <p:cNvPr id="8" name="tour head 0"/>
          <p:cNvSpPr txBox="1"/>
          <p:nvPr/>
        </p:nvSpPr>
        <p:spPr>
          <a:xfrm>
            <a:off x="8641080" y="141732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Сторінка бізнесу і запис</a:t>
            </a:r>
            <a:endParaRPr lang="en-US" sz="1700" dirty="0"/>
          </a:p>
        </p:txBody>
      </p:sp>
      <p:sp>
        <p:nvSpPr>
          <p:cNvPr id="9" name="tour text 0"/>
          <p:cNvSpPr txBox="1"/>
          <p:nvPr/>
        </p:nvSpPr>
        <p:spPr>
          <a:xfrm>
            <a:off x="8641080" y="180136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Послуги, майстри, правила, вільні слоти, передоплата</a:t>
            </a:r>
            <a:endParaRPr lang="en-US" sz="1400" dirty="0"/>
          </a:p>
        </p:txBody>
      </p:sp>
      <p:sp>
        <p:nvSpPr>
          <p:cNvPr id="10" name="tour icon bg 1"/>
          <p:cNvSpPr/>
          <p:nvPr/>
        </p:nvSpPr>
        <p:spPr>
          <a:xfrm>
            <a:off x="7863840" y="288036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tour icon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56" y="3008376"/>
            <a:ext cx="310896" cy="310896"/>
          </a:xfrm>
          <a:prstGeom prst="rect">
            <a:avLst/>
          </a:prstGeom>
        </p:spPr>
      </p:pic>
      <p:sp>
        <p:nvSpPr>
          <p:cNvPr id="12" name="tour head 1"/>
          <p:cNvSpPr txBox="1"/>
          <p:nvPr/>
        </p:nvSpPr>
        <p:spPr>
          <a:xfrm>
            <a:off x="8641080" y="288036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Адмінка</a:t>
            </a:r>
            <a:endParaRPr lang="en-US" sz="1700" dirty="0"/>
          </a:p>
        </p:txBody>
      </p:sp>
      <p:sp>
        <p:nvSpPr>
          <p:cNvPr id="13" name="tour text 1"/>
          <p:cNvSpPr txBox="1"/>
          <p:nvPr/>
        </p:nvSpPr>
        <p:spPr>
          <a:xfrm>
            <a:off x="8641080" y="326440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Тиждень бронювань, дії агента з міткою «AI», клієнти, майстри, послуги</a:t>
            </a:r>
            <a:endParaRPr lang="en-US" sz="1400" dirty="0"/>
          </a:p>
        </p:txBody>
      </p:sp>
      <p:sp>
        <p:nvSpPr>
          <p:cNvPr id="14" name="tour icon bg 2"/>
          <p:cNvSpPr/>
          <p:nvPr/>
        </p:nvSpPr>
        <p:spPr>
          <a:xfrm>
            <a:off x="7863840" y="43434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5" name="tour icon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4471416"/>
            <a:ext cx="310896" cy="310896"/>
          </a:xfrm>
          <a:prstGeom prst="rect">
            <a:avLst/>
          </a:prstGeom>
        </p:spPr>
      </p:pic>
      <p:sp>
        <p:nvSpPr>
          <p:cNvPr id="16" name="tour head 2"/>
          <p:cNvSpPr txBox="1"/>
          <p:nvPr/>
        </p:nvSpPr>
        <p:spPr>
          <a:xfrm>
            <a:off x="8641080" y="434340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Відкриті інтеграції</a:t>
            </a:r>
            <a:endParaRPr lang="en-US" sz="1700" dirty="0"/>
          </a:p>
        </p:txBody>
      </p:sp>
      <p:sp>
        <p:nvSpPr>
          <p:cNvPr id="17" name="tour text 2"/>
          <p:cNvSpPr txBox="1"/>
          <p:nvPr/>
        </p:nvSpPr>
        <p:spPr>
          <a:xfrm>
            <a:off x="8641080" y="472744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HTTP API, MCP-сервер для агента, віджет одним рядком коду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Що отримує підтримка і як ми закриваємо критерії</a:t>
            </a:r>
            <a:endParaRPr lang="en-US" sz="3200" dirty="0"/>
          </a:p>
        </p:txBody>
      </p:sp>
      <p:sp>
        <p:nvSpPr>
          <p:cNvPr id="3" name="stat 0"/>
          <p:cNvSpPr/>
          <p:nvPr/>
        </p:nvSpPr>
        <p:spPr>
          <a:xfrm>
            <a:off x="548640" y="1280160"/>
            <a:ext cx="351525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stat 0 value"/>
          <p:cNvSpPr txBox="1"/>
          <p:nvPr/>
        </p:nvSpPr>
        <p:spPr>
          <a:xfrm>
            <a:off x="822960" y="13716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 з 3</a:t>
            </a:r>
            <a:endParaRPr lang="en-US" sz="4000" dirty="0"/>
          </a:p>
        </p:txBody>
      </p:sp>
      <p:sp>
        <p:nvSpPr>
          <p:cNvPr id="5" name="stat 0 label"/>
          <p:cNvSpPr txBox="1"/>
          <p:nvPr/>
        </p:nvSpPr>
        <p:spPr>
          <a:xfrm>
            <a:off x="822960" y="208483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сценаріїв вирішено діями в системі, а не лише відповіддю</a:t>
            </a:r>
            <a:endParaRPr lang="en-US" sz="1300" dirty="0"/>
          </a:p>
        </p:txBody>
      </p:sp>
      <p:sp>
        <p:nvSpPr>
          <p:cNvPr id="6" name="stat 1"/>
          <p:cNvSpPr/>
          <p:nvPr/>
        </p:nvSpPr>
        <p:spPr>
          <a:xfrm>
            <a:off x="4338218" y="1280160"/>
            <a:ext cx="351525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4612538" y="13716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1 клік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4612538" y="208483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щоб адміністратор погодив ризикову дію з готовим розбором</a:t>
            </a:r>
            <a:endParaRPr lang="en-US" sz="1300" dirty="0"/>
          </a:p>
        </p:txBody>
      </p:sp>
      <p:sp>
        <p:nvSpPr>
          <p:cNvPr id="9" name="stat 2"/>
          <p:cNvSpPr/>
          <p:nvPr/>
        </p:nvSpPr>
        <p:spPr>
          <a:xfrm>
            <a:off x="8127797" y="1280160"/>
            <a:ext cx="351525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8402117" y="13716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1 700 грн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8402117" y="208483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передоплат збережено або повернено клієнтам у демо</a:t>
            </a:r>
            <a:endParaRPr lang="en-US" sz="1300" dirty="0"/>
          </a:p>
        </p:txBody>
      </p:sp>
      <p:sp>
        <p:nvSpPr>
          <p:cNvPr id="12" name="criterion 0"/>
          <p:cNvSpPr/>
          <p:nvPr/>
        </p:nvSpPr>
        <p:spPr>
          <a:xfrm>
            <a:off x="548640" y="3017520"/>
            <a:ext cx="11094415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</p:sp>
      <p:sp>
        <p:nvSpPr>
          <p:cNvPr id="13" name="criterion 0 name"/>
          <p:cNvSpPr txBox="1"/>
          <p:nvPr/>
        </p:nvSpPr>
        <p:spPr>
          <a:xfrm>
            <a:off x="822960" y="30175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Operational Impact</a:t>
            </a:r>
            <a:endParaRPr lang="en-US" sz="1600" dirty="0"/>
          </a:p>
        </p:txBody>
      </p:sp>
      <p:sp>
        <p:nvSpPr>
          <p:cNvPr id="14" name="criterion 0 text"/>
          <p:cNvSpPr txBox="1"/>
          <p:nvPr/>
        </p:nvSpPr>
        <p:spPr>
          <a:xfrm>
            <a:off x="3840480" y="3017520"/>
            <a:ext cx="7528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Звернення закриваються діями в системі; людина — лише для ризикових рішень</a:t>
            </a:r>
            <a:endParaRPr lang="en-US" sz="1500" dirty="0"/>
          </a:p>
        </p:txBody>
      </p:sp>
      <p:sp>
        <p:nvSpPr>
          <p:cNvPr id="15" name="criterion 1"/>
          <p:cNvSpPr/>
          <p:nvPr/>
        </p:nvSpPr>
        <p:spPr>
          <a:xfrm>
            <a:off x="548640" y="3675888"/>
            <a:ext cx="11094415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/>
        </p:spPr>
      </p:sp>
      <p:sp>
        <p:nvSpPr>
          <p:cNvPr id="16" name="criterion 1 name"/>
          <p:cNvSpPr txBox="1"/>
          <p:nvPr/>
        </p:nvSpPr>
        <p:spPr>
          <a:xfrm>
            <a:off x="822960" y="36758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Innovation</a:t>
            </a:r>
            <a:endParaRPr lang="en-US" sz="1600" dirty="0"/>
          </a:p>
        </p:txBody>
      </p:sp>
      <p:sp>
        <p:nvSpPr>
          <p:cNvPr id="17" name="criterion 1 text"/>
          <p:cNvSpPr txBox="1"/>
          <p:nvPr/>
        </p:nvSpPr>
        <p:spPr>
          <a:xfrm>
            <a:off x="3840480" y="3675888"/>
            <a:ext cx="7528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Permission engine, який налаштовує власник, і один агент для будь-якого бізнесу</a:t>
            </a:r>
            <a:endParaRPr lang="en-US" sz="1500" dirty="0"/>
          </a:p>
        </p:txBody>
      </p:sp>
      <p:sp>
        <p:nvSpPr>
          <p:cNvPr id="18" name="criterion 2"/>
          <p:cNvSpPr/>
          <p:nvPr/>
        </p:nvSpPr>
        <p:spPr>
          <a:xfrm>
            <a:off x="548640" y="4334256"/>
            <a:ext cx="11094415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</p:sp>
      <p:sp>
        <p:nvSpPr>
          <p:cNvPr id="19" name="criterion 2 name"/>
          <p:cNvSpPr txBox="1"/>
          <p:nvPr/>
        </p:nvSpPr>
        <p:spPr>
          <a:xfrm>
            <a:off x="822960" y="43342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Use of AI</a:t>
            </a:r>
            <a:endParaRPr lang="en-US" sz="1600" dirty="0"/>
          </a:p>
        </p:txBody>
      </p:sp>
      <p:sp>
        <p:nvSpPr>
          <p:cNvPr id="20" name="criterion 2 text"/>
          <p:cNvSpPr txBox="1"/>
          <p:nvPr/>
        </p:nvSpPr>
        <p:spPr>
          <a:xfrm>
            <a:off x="3840480" y="4334256"/>
            <a:ext cx="7528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Оркестратор Claude Sonnet, Gemma 4 для простих питань, агент з інструментами</a:t>
            </a:r>
            <a:endParaRPr lang="en-US" sz="1500" dirty="0"/>
          </a:p>
        </p:txBody>
      </p:sp>
      <p:sp>
        <p:nvSpPr>
          <p:cNvPr id="21" name="criterion 3"/>
          <p:cNvSpPr/>
          <p:nvPr/>
        </p:nvSpPr>
        <p:spPr>
          <a:xfrm>
            <a:off x="548640" y="4992624"/>
            <a:ext cx="11094415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/>
        </p:spPr>
      </p:sp>
      <p:sp>
        <p:nvSpPr>
          <p:cNvPr id="22" name="criterion 3 name"/>
          <p:cNvSpPr txBox="1"/>
          <p:nvPr/>
        </p:nvSpPr>
        <p:spPr>
          <a:xfrm>
            <a:off x="822960" y="49926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Reasoning &amp; Context</a:t>
            </a:r>
            <a:endParaRPr lang="en-US" sz="1600" dirty="0"/>
          </a:p>
        </p:txBody>
      </p:sp>
      <p:sp>
        <p:nvSpPr>
          <p:cNvPr id="23" name="criterion 3 text"/>
          <p:cNvSpPr txBox="1"/>
          <p:nvPr/>
        </p:nvSpPr>
        <p:spPr>
          <a:xfrm>
            <a:off x="3840480" y="4992624"/>
            <a:ext cx="7528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Рішення залежить від історії клієнта, правил бізнесу та емоції звернення</a:t>
            </a:r>
            <a:endParaRPr lang="en-US" sz="1500" dirty="0"/>
          </a:p>
        </p:txBody>
      </p:sp>
      <p:sp>
        <p:nvSpPr>
          <p:cNvPr id="24" name="criterion 4"/>
          <p:cNvSpPr/>
          <p:nvPr/>
        </p:nvSpPr>
        <p:spPr>
          <a:xfrm>
            <a:off x="548640" y="5650992"/>
            <a:ext cx="11094415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</p:sp>
      <p:sp>
        <p:nvSpPr>
          <p:cNvPr id="25" name="criterion 4 name"/>
          <p:cNvSpPr txBox="1"/>
          <p:nvPr/>
        </p:nvSpPr>
        <p:spPr>
          <a:xfrm>
            <a:off x="822960" y="56509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Presentation &amp; Demo</a:t>
            </a:r>
            <a:endParaRPr lang="en-US" sz="1600" dirty="0"/>
          </a:p>
        </p:txBody>
      </p:sp>
      <p:sp>
        <p:nvSpPr>
          <p:cNvPr id="26" name="criterion 4 text"/>
          <p:cNvSpPr txBox="1"/>
          <p:nvPr/>
        </p:nvSpPr>
        <p:spPr>
          <a:xfrm>
            <a:off x="3840480" y="5650992"/>
            <a:ext cx="7528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Працюючий продукт: сайт, адмінка, API, MCP, телефон — усе на відео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Дякуємо!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Далі: інтеграція з календарями й CRM салонів, SMS-нагадування, прогноз неявок і передоплата для ризикових клієнтів</a:t>
            </a:r>
            <a:endParaRPr lang="en-US" sz="2200" dirty="0"/>
          </a:p>
        </p:txBody>
      </p:sp>
      <p:sp>
        <p:nvSpPr>
          <p:cNvPr id="4" name="repo"/>
          <p:cNvSpPr txBox="1"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github.com/redrembo24680/polytech_hack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okly Pitch">
  <a:themeElements>
    <a:clrScheme name="Bookly Pitch">
      <a:dk1>
        <a:srgbClr val="16163A"/>
      </a:dk1>
      <a:lt1>
        <a:srgbClr val="FFFFFF"/>
      </a:lt1>
      <a:dk2>
        <a:srgbClr val="4B4E6D"/>
      </a:dk2>
      <a:lt2>
        <a:srgbClr val="F1F2FB"/>
      </a:lt2>
      <a:accent1>
        <a:srgbClr val="4F46E5"/>
      </a:accent1>
      <a:accent2>
        <a:srgbClr val="F2665C"/>
      </a:accent2>
      <a:accent3>
        <a:srgbClr val="12B886"/>
      </a:accent3>
      <a:accent4>
        <a:srgbClr val="F59F00"/>
      </a:accent4>
      <a:accent5>
        <a:srgbClr val="868AA8"/>
      </a:accent5>
      <a:accent6>
        <a:srgbClr val="C7C9F5"/>
      </a:accent6>
      <a:hlink>
        <a:srgbClr val="4F46E5"/>
      </a:hlink>
      <a:folHlink>
        <a:srgbClr val="6D28D9"/>
      </a:folHlink>
    </a:clrScheme>
    <a:fontScheme name="Bookly Pit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Bookly — AI-підтримка, яка діє</dc:title>
  <dc:subject>PptxGenJS Presentation</dc:subject>
  <dc:creator>redrembo24680</dc:creator>
  <cp:lastModifiedBy>redrembo24680</cp:lastModifiedBy>
  <cp:revision>1</cp:revision>
  <dcterms:created xsi:type="dcterms:W3CDTF">2026-10-31T14:22:22Z</dcterms:created>
  <dcterms:modified xsi:type="dcterms:W3CDTF">2026-10-31T14:22:22Z</dcterms:modified>
</cp:coreProperties>
</file>